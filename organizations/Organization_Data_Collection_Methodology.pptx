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330"/>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B5563C"/>
          </a:solidFill>
          <a:ln w="12700">
            <a:solidFill>
              <a:srgbClr val="333333"/>
            </a:solidFill>
            <a:prstDash val="solid"/>
          </a:ln>
        </p:spPr>
      </p:sp>
      <p:sp>
        <p:nvSpPr>
          <p:cNvPr id="3" name="Text 1"/>
          <p:cNvSpPr txBox="1"/>
          <p:nvPr/>
        </p:nvSpPr>
        <p:spPr>
          <a:xfrm>
            <a:off x="1005840" y="1965960"/>
            <a:ext cx="8229600" cy="320040"/>
          </a:xfrm>
          <a:prstGeom prst="rect">
            <a:avLst/>
          </a:prstGeom>
          <a:noFill/>
          <a:ln/>
        </p:spPr>
        <p:txBody>
          <a:bodyPr wrap="square" rtlCol="0" anchor="ctr"/>
          <a:lstStyle/>
          <a:p>
            <a:pPr indent="0" marL="0">
              <a:buNone/>
            </a:pPr>
            <a:r>
              <a:rPr lang="en-US" sz="1200" b="1" spc="250" kern="0" dirty="0">
                <a:solidFill>
                  <a:srgbClr val="B5563C"/>
                </a:solidFill>
                <a:latin typeface="Calibri" pitchFamily="34" charset="0"/>
                <a:ea typeface="Calibri" pitchFamily="34" charset="-122"/>
                <a:cs typeface="Calibri" pitchFamily="34" charset="-120"/>
              </a:rPr>
              <a:t>FOR AKSHITA AND CARMEN</a:t>
            </a:r>
            <a:endParaRPr lang="en-US" sz="1200" dirty="0"/>
          </a:p>
        </p:txBody>
      </p:sp>
      <p:sp>
        <p:nvSpPr>
          <p:cNvPr id="4" name="Text 2"/>
          <p:cNvSpPr txBox="1"/>
          <p:nvPr/>
        </p:nvSpPr>
        <p:spPr>
          <a:xfrm>
            <a:off x="1005840" y="2377440"/>
            <a:ext cx="9601200" cy="1828800"/>
          </a:xfrm>
          <a:prstGeom prst="rect">
            <a:avLst/>
          </a:prstGeom>
          <a:noFill/>
          <a:ln/>
        </p:spPr>
        <p:txBody>
          <a:bodyPr wrap="square" rtlCol="0" anchor="ctr"/>
          <a:lstStyle/>
          <a:p>
            <a:pPr indent="0" marL="0">
              <a:lnSpc>
                <a:spcPts val="5000"/>
              </a:lnSpc>
              <a:buNone/>
            </a:pPr>
            <a:r>
              <a:rPr lang="en-US" sz="4200" b="1" dirty="0">
                <a:solidFill>
                  <a:srgbClr val="FFFFFF"/>
                </a:solidFill>
                <a:latin typeface="Georgia" pitchFamily="34" charset="0"/>
                <a:ea typeface="Georgia" pitchFamily="34" charset="-122"/>
                <a:cs typeface="Georgia" pitchFamily="34" charset="-120"/>
              </a:rPr>
              <a:t>Organization Data</a:t>
            </a:r>
            <a:endParaRPr lang="en-US" sz="4200" dirty="0"/>
          </a:p>
          <a:p>
            <a:pPr indent="0" marL="0">
              <a:lnSpc>
                <a:spcPts val="5000"/>
              </a:lnSpc>
              <a:buNone/>
            </a:pPr>
            <a:r>
              <a:rPr lang="en-US" sz="4200" b="1" dirty="0">
                <a:solidFill>
                  <a:srgbClr val="FFFFFF"/>
                </a:solidFill>
                <a:latin typeface="Georgia" pitchFamily="34" charset="0"/>
                <a:ea typeface="Georgia" pitchFamily="34" charset="-122"/>
                <a:cs typeface="Georgia" pitchFamily="34" charset="-120"/>
              </a:rPr>
              <a:t>Collection Methodology</a:t>
            </a:r>
            <a:endParaRPr lang="en-US" sz="4200" dirty="0"/>
          </a:p>
        </p:txBody>
      </p:sp>
      <p:sp>
        <p:nvSpPr>
          <p:cNvPr id="5" name="Text 3"/>
          <p:cNvSpPr txBox="1"/>
          <p:nvPr/>
        </p:nvSpPr>
        <p:spPr>
          <a:xfrm>
            <a:off x="1005840" y="4343400"/>
            <a:ext cx="8961120" cy="822960"/>
          </a:xfrm>
          <a:prstGeom prst="rect">
            <a:avLst/>
          </a:prstGeom>
          <a:noFill/>
          <a:ln/>
        </p:spPr>
        <p:txBody>
          <a:bodyPr wrap="square" rtlCol="0" anchor="ctr"/>
          <a:lstStyle/>
          <a:p>
            <a:pPr indent="0" marL="0">
              <a:lnSpc>
                <a:spcPts val="2400"/>
              </a:lnSpc>
              <a:buNone/>
            </a:pPr>
            <a:r>
              <a:rPr lang="en-US" sz="1550" dirty="0">
                <a:solidFill>
                  <a:srgbClr val="D8D2C6"/>
                </a:solidFill>
                <a:latin typeface="Calibri" pitchFamily="34" charset="0"/>
                <a:ea typeface="Calibri" pitchFamily="34" charset="-122"/>
                <a:cs typeface="Calibri" pitchFamily="34" charset="-120"/>
              </a:rPr>
              <a:t>How we find practitioner organizations, how we decide which ones count,</a:t>
            </a:r>
            <a:endParaRPr lang="en-US" sz="1550" dirty="0"/>
          </a:p>
          <a:p>
            <a:pPr indent="0" marL="0">
              <a:lnSpc>
                <a:spcPts val="2400"/>
              </a:lnSpc>
              <a:buNone/>
            </a:pPr>
            <a:r>
              <a:rPr lang="en-US" sz="1550" dirty="0">
                <a:solidFill>
                  <a:srgbClr val="D8D2C6"/>
                </a:solidFill>
                <a:latin typeface="Calibri" pitchFamily="34" charset="0"/>
                <a:ea typeface="Calibri" pitchFamily="34" charset="-122"/>
                <a:cs typeface="Calibri" pitchFamily="34" charset="-120"/>
              </a:rPr>
              <a:t>and how we know when to stop.</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Why are we collecting this data?</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481328"/>
            <a:ext cx="10911535" cy="502920"/>
          </a:xfrm>
          <a:prstGeom prst="rect">
            <a:avLst/>
          </a:prstGeom>
          <a:noFill/>
          <a:ln/>
        </p:spPr>
        <p:txBody>
          <a:bodyPr wrap="square" rtlCol="0" anchor="ctr"/>
          <a:lstStyle/>
          <a:p>
            <a:pPr indent="0" marL="0">
              <a:buNone/>
            </a:pPr>
            <a:r>
              <a:rPr lang="en-US" sz="1700" i="1" dirty="0">
                <a:solidFill>
                  <a:srgbClr val="5E8B7E"/>
                </a:solidFill>
                <a:latin typeface="Georgia" pitchFamily="34" charset="0"/>
                <a:ea typeface="Georgia" pitchFamily="34" charset="-122"/>
                <a:cs typeface="Georgia" pitchFamily="34" charset="-120"/>
              </a:rPr>
              <a:t>Most of this work is conducted by organizations, and we miss a big part of the story if we ignore them.</a:t>
            </a:r>
            <a:endParaRPr lang="en-US" sz="1700" dirty="0"/>
          </a:p>
        </p:txBody>
      </p:sp>
      <p:sp>
        <p:nvSpPr>
          <p:cNvPr id="5" name="Shape 3"/>
          <p:cNvSpPr/>
          <p:nvPr/>
        </p:nvSpPr>
        <p:spPr>
          <a:xfrm>
            <a:off x="640080" y="2331720"/>
            <a:ext cx="10911535" cy="1371600"/>
          </a:xfrm>
          <a:prstGeom prst="roundRect">
            <a:avLst>
              <a:gd name="adj" fmla="val 4667"/>
            </a:avLst>
          </a:prstGeom>
          <a:solidFill>
            <a:srgbClr val="FFFFFF"/>
          </a:solidFill>
          <a:ln w="12700">
            <a:solidFill>
              <a:srgbClr val="E4DDD1"/>
            </a:solidFill>
            <a:prstDash val="solid"/>
          </a:ln>
        </p:spPr>
      </p:sp>
      <p:sp>
        <p:nvSpPr>
          <p:cNvPr id="6" name="Shape 4"/>
          <p:cNvSpPr/>
          <p:nvPr/>
        </p:nvSpPr>
        <p:spPr>
          <a:xfrm>
            <a:off x="960120" y="2642616"/>
            <a:ext cx="384048" cy="384048"/>
          </a:xfrm>
          <a:prstGeom prst="ellipse">
            <a:avLst/>
          </a:prstGeom>
          <a:solidFill>
            <a:srgbClr val="B5563C"/>
          </a:solidFill>
          <a:ln w="12700">
            <a:solidFill>
              <a:srgbClr val="333333"/>
            </a:solidFill>
            <a:prstDash val="solid"/>
          </a:ln>
        </p:spPr>
      </p:sp>
      <p:sp>
        <p:nvSpPr>
          <p:cNvPr id="7" name="Text 5"/>
          <p:cNvSpPr txBox="1"/>
          <p:nvPr/>
        </p:nvSpPr>
        <p:spPr>
          <a:xfrm>
            <a:off x="960120" y="26426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600200" y="2606040"/>
            <a:ext cx="9539935" cy="914400"/>
          </a:xfrm>
          <a:prstGeom prst="rect">
            <a:avLst/>
          </a:prstGeom>
          <a:noFill/>
          <a:ln/>
        </p:spPr>
        <p:txBody>
          <a:bodyPr wrap="square" lIns="0" tIns="0" rIns="0" bIns="0" rtlCol="0" anchor="ctr"/>
          <a:lstStyle/>
          <a:p>
            <a:pPr indent="0" marL="0">
              <a:lnSpc>
                <a:spcPts val="2300"/>
              </a:lnSpc>
              <a:buNone/>
            </a:pPr>
            <a:r>
              <a:rPr lang="en-US" sz="1500" dirty="0">
                <a:solidFill>
                  <a:srgbClr val="1B3330"/>
                </a:solidFill>
                <a:latin typeface="Calibri" pitchFamily="34" charset="0"/>
                <a:ea typeface="Calibri" pitchFamily="34" charset="-122"/>
                <a:cs typeface="Calibri" pitchFamily="34" charset="-120"/>
              </a:rPr>
              <a:t>How do these organizations describe their work? What phrases do they use? Are they connecting and forming movements around terminology that we don’t see yet?</a:t>
            </a:r>
            <a:endParaRPr lang="en-US" sz="1500" dirty="0"/>
          </a:p>
        </p:txBody>
      </p:sp>
      <p:sp>
        <p:nvSpPr>
          <p:cNvPr id="9" name="Shape 7"/>
          <p:cNvSpPr/>
          <p:nvPr/>
        </p:nvSpPr>
        <p:spPr>
          <a:xfrm>
            <a:off x="640080" y="3931920"/>
            <a:ext cx="10911535" cy="1371600"/>
          </a:xfrm>
          <a:prstGeom prst="roundRect">
            <a:avLst>
              <a:gd name="adj" fmla="val 4667"/>
            </a:avLst>
          </a:prstGeom>
          <a:solidFill>
            <a:srgbClr val="FFFFFF"/>
          </a:solidFill>
          <a:ln w="12700">
            <a:solidFill>
              <a:srgbClr val="E4DDD1"/>
            </a:solidFill>
            <a:prstDash val="solid"/>
          </a:ln>
        </p:spPr>
      </p:sp>
      <p:sp>
        <p:nvSpPr>
          <p:cNvPr id="10" name="Shape 8"/>
          <p:cNvSpPr/>
          <p:nvPr/>
        </p:nvSpPr>
        <p:spPr>
          <a:xfrm>
            <a:off x="960120" y="4242816"/>
            <a:ext cx="384048" cy="384048"/>
          </a:xfrm>
          <a:prstGeom prst="ellipse">
            <a:avLst/>
          </a:prstGeom>
          <a:solidFill>
            <a:srgbClr val="B5563C"/>
          </a:solidFill>
          <a:ln w="12700">
            <a:solidFill>
              <a:srgbClr val="333333"/>
            </a:solidFill>
            <a:prstDash val="solid"/>
          </a:ln>
        </p:spPr>
      </p:sp>
      <p:sp>
        <p:nvSpPr>
          <p:cNvPr id="11" name="Text 9"/>
          <p:cNvSpPr txBox="1"/>
          <p:nvPr/>
        </p:nvSpPr>
        <p:spPr>
          <a:xfrm>
            <a:off x="960120" y="4242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600200" y="4206240"/>
            <a:ext cx="9539935" cy="914400"/>
          </a:xfrm>
          <a:prstGeom prst="rect">
            <a:avLst/>
          </a:prstGeom>
          <a:noFill/>
          <a:ln/>
        </p:spPr>
        <p:txBody>
          <a:bodyPr wrap="square" lIns="0" tIns="0" rIns="0" bIns="0" rtlCol="0" anchor="ctr"/>
          <a:lstStyle/>
          <a:p>
            <a:pPr indent="0" marL="0">
              <a:lnSpc>
                <a:spcPts val="2300"/>
              </a:lnSpc>
              <a:buNone/>
            </a:pPr>
            <a:r>
              <a:rPr lang="en-US" sz="1500" dirty="0">
                <a:solidFill>
                  <a:srgbClr val="1B3330"/>
                </a:solidFill>
                <a:latin typeface="Calibri" pitchFamily="34" charset="0"/>
                <a:ea typeface="Calibri" pitchFamily="34" charset="-122"/>
                <a:cs typeface="Calibri" pitchFamily="34" charset="-120"/>
              </a:rPr>
              <a:t>How do they define “social good” and who do these projects serve? Who is deciding that? Who is invited to participate? And what counts as technology?</a:t>
            </a:r>
            <a:endParaRPr lang="en-US" sz="1500" dirty="0"/>
          </a:p>
        </p:txBody>
      </p:sp>
      <p:sp>
        <p:nvSpPr>
          <p:cNvPr id="13" name="Text 11"/>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6B7A75"/>
                </a:solidFill>
                <a:latin typeface="Calibri" pitchFamily="34" charset="0"/>
                <a:ea typeface="Calibri" pitchFamily="34" charset="-122"/>
                <a:cs typeface="Calibri" pitchFamily="34" charset="-120"/>
              </a:rPr>
              <a:t>These are the same questions we ask of the literature — which is what makes the two halves of the project comparable.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3330"/>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Where the old approach failed us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D8D2C6"/>
                </a:solidFill>
                <a:latin typeface="Calibri" pitchFamily="34" charset="0"/>
                <a:ea typeface="Calibri" pitchFamily="34" charset="-122"/>
                <a:cs typeface="Calibri" pitchFamily="34" charset="-120"/>
              </a:rPr>
              <a:t>Snowball sampling, keyword searching, geographic stratification, AI scraping.</a:t>
            </a:r>
            <a:endParaRPr lang="en-US" sz="1450" dirty="0"/>
          </a:p>
        </p:txBody>
      </p:sp>
      <p:sp>
        <p:nvSpPr>
          <p:cNvPr id="5" name="Shape 3"/>
          <p:cNvSpPr/>
          <p:nvPr/>
        </p:nvSpPr>
        <p:spPr>
          <a:xfrm>
            <a:off x="640080" y="1965960"/>
            <a:ext cx="2535860" cy="3291840"/>
          </a:xfrm>
          <a:prstGeom prst="roundRect">
            <a:avLst>
              <a:gd name="adj" fmla="val 2524"/>
            </a:avLst>
          </a:prstGeom>
          <a:solidFill>
            <a:srgbClr val="26433E"/>
          </a:solidFill>
          <a:ln w="12700">
            <a:solidFill>
              <a:srgbClr val="31514B"/>
            </a:solidFill>
            <a:prstDash val="solid"/>
          </a:ln>
        </p:spPr>
      </p:sp>
      <p:sp>
        <p:nvSpPr>
          <p:cNvPr id="6" name="Shape 4"/>
          <p:cNvSpPr/>
          <p:nvPr/>
        </p:nvSpPr>
        <p:spPr>
          <a:xfrm>
            <a:off x="877824" y="2194560"/>
            <a:ext cx="384048" cy="384048"/>
          </a:xfrm>
          <a:prstGeom prst="ellipse">
            <a:avLst/>
          </a:prstGeom>
          <a:solidFill>
            <a:srgbClr val="B5563C"/>
          </a:solidFill>
          <a:ln w="12700">
            <a:solidFill>
              <a:srgbClr val="333333"/>
            </a:solidFill>
            <a:prstDash val="solid"/>
          </a:ln>
        </p:spPr>
      </p:sp>
      <p:sp>
        <p:nvSpPr>
          <p:cNvPr id="7" name="Text 5"/>
          <p:cNvSpPr txBox="1"/>
          <p:nvPr/>
        </p:nvSpPr>
        <p:spPr>
          <a:xfrm>
            <a:off x="877824"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724912"/>
            <a:ext cx="2060372" cy="77724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Georgia" pitchFamily="34" charset="0"/>
                <a:ea typeface="Georgia" pitchFamily="34" charset="-122"/>
                <a:cs typeface="Georgia" pitchFamily="34" charset="-120"/>
              </a:rPr>
              <a:t>We didn’t have the language</a:t>
            </a:r>
            <a:endParaRPr lang="en-US" sz="1600" dirty="0"/>
          </a:p>
        </p:txBody>
      </p:sp>
      <p:sp>
        <p:nvSpPr>
          <p:cNvPr id="9" name="Text 7"/>
          <p:cNvSpPr txBox="1"/>
          <p:nvPr/>
        </p:nvSpPr>
        <p:spPr>
          <a:xfrm>
            <a:off x="877824" y="3566160"/>
            <a:ext cx="2060372" cy="15544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We couldn’t be sure our search terms gave us a complete picture. We probably missed big parts of the field.</a:t>
            </a:r>
            <a:endParaRPr lang="en-US" sz="1250" dirty="0"/>
          </a:p>
        </p:txBody>
      </p:sp>
      <p:sp>
        <p:nvSpPr>
          <p:cNvPr id="10" name="Shape 8"/>
          <p:cNvSpPr/>
          <p:nvPr/>
        </p:nvSpPr>
        <p:spPr>
          <a:xfrm>
            <a:off x="3431972" y="1965960"/>
            <a:ext cx="2535860" cy="3291840"/>
          </a:xfrm>
          <a:prstGeom prst="roundRect">
            <a:avLst>
              <a:gd name="adj" fmla="val 2524"/>
            </a:avLst>
          </a:prstGeom>
          <a:solidFill>
            <a:srgbClr val="26433E"/>
          </a:solidFill>
          <a:ln w="12700">
            <a:solidFill>
              <a:srgbClr val="31514B"/>
            </a:solidFill>
            <a:prstDash val="solid"/>
          </a:ln>
        </p:spPr>
      </p:sp>
      <p:sp>
        <p:nvSpPr>
          <p:cNvPr id="11" name="Shape 9"/>
          <p:cNvSpPr/>
          <p:nvPr/>
        </p:nvSpPr>
        <p:spPr>
          <a:xfrm>
            <a:off x="3669716" y="2194560"/>
            <a:ext cx="384048" cy="384048"/>
          </a:xfrm>
          <a:prstGeom prst="ellipse">
            <a:avLst/>
          </a:prstGeom>
          <a:solidFill>
            <a:srgbClr val="B5563C"/>
          </a:solidFill>
          <a:ln w="12700">
            <a:solidFill>
              <a:srgbClr val="333333"/>
            </a:solidFill>
            <a:prstDash val="solid"/>
          </a:ln>
        </p:spPr>
      </p:sp>
      <p:sp>
        <p:nvSpPr>
          <p:cNvPr id="12" name="Text 10"/>
          <p:cNvSpPr txBox="1"/>
          <p:nvPr/>
        </p:nvSpPr>
        <p:spPr>
          <a:xfrm>
            <a:off x="3669716"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9716" y="2724912"/>
            <a:ext cx="2060372" cy="77724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Georgia" pitchFamily="34" charset="0"/>
                <a:ea typeface="Georgia" pitchFamily="34" charset="-122"/>
                <a:cs typeface="Georgia" pitchFamily="34" charset="-120"/>
              </a:rPr>
              <a:t>We couldn’t explain what we did</a:t>
            </a:r>
            <a:endParaRPr lang="en-US" sz="1600" dirty="0"/>
          </a:p>
        </p:txBody>
      </p:sp>
      <p:sp>
        <p:nvSpPr>
          <p:cNvPr id="14" name="Text 12"/>
          <p:cNvSpPr txBox="1"/>
          <p:nvPr/>
        </p:nvSpPr>
        <p:spPr>
          <a:xfrm>
            <a:off x="3669716" y="3566160"/>
            <a:ext cx="2060372" cy="15544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That was going to bite us in the butt for writing the paper and passing peer review.</a:t>
            </a:r>
            <a:endParaRPr lang="en-US" sz="1250" dirty="0"/>
          </a:p>
        </p:txBody>
      </p:sp>
      <p:sp>
        <p:nvSpPr>
          <p:cNvPr id="15" name="Shape 13"/>
          <p:cNvSpPr/>
          <p:nvPr/>
        </p:nvSpPr>
        <p:spPr>
          <a:xfrm>
            <a:off x="6223864" y="1965960"/>
            <a:ext cx="2535860" cy="3291840"/>
          </a:xfrm>
          <a:prstGeom prst="roundRect">
            <a:avLst>
              <a:gd name="adj" fmla="val 2524"/>
            </a:avLst>
          </a:prstGeom>
          <a:solidFill>
            <a:srgbClr val="26433E"/>
          </a:solidFill>
          <a:ln w="12700">
            <a:solidFill>
              <a:srgbClr val="31514B"/>
            </a:solidFill>
            <a:prstDash val="solid"/>
          </a:ln>
        </p:spPr>
      </p:sp>
      <p:sp>
        <p:nvSpPr>
          <p:cNvPr id="16" name="Shape 14"/>
          <p:cNvSpPr/>
          <p:nvPr/>
        </p:nvSpPr>
        <p:spPr>
          <a:xfrm>
            <a:off x="6461608" y="2194560"/>
            <a:ext cx="384048" cy="384048"/>
          </a:xfrm>
          <a:prstGeom prst="ellipse">
            <a:avLst/>
          </a:prstGeom>
          <a:solidFill>
            <a:srgbClr val="B5563C"/>
          </a:solidFill>
          <a:ln w="12700">
            <a:solidFill>
              <a:srgbClr val="333333"/>
            </a:solidFill>
            <a:prstDash val="solid"/>
          </a:ln>
        </p:spPr>
      </p:sp>
      <p:sp>
        <p:nvSpPr>
          <p:cNvPr id="17" name="Text 15"/>
          <p:cNvSpPr txBox="1"/>
          <p:nvPr/>
        </p:nvSpPr>
        <p:spPr>
          <a:xfrm>
            <a:off x="6461608"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461608" y="2724912"/>
            <a:ext cx="2060372" cy="77724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Georgia" pitchFamily="34" charset="0"/>
                <a:ea typeface="Georgia" pitchFamily="34" charset="-122"/>
                <a:cs typeface="Georgia" pitchFamily="34" charset="-120"/>
              </a:rPr>
              <a:t>It was partly arbitrary</a:t>
            </a:r>
            <a:endParaRPr lang="en-US" sz="1600" dirty="0"/>
          </a:p>
        </p:txBody>
      </p:sp>
      <p:sp>
        <p:nvSpPr>
          <p:cNvPr id="19" name="Text 17"/>
          <p:cNvSpPr txBox="1"/>
          <p:nvPr/>
        </p:nvSpPr>
        <p:spPr>
          <a:xfrm>
            <a:off x="6461608" y="3566160"/>
            <a:ext cx="2060372" cy="15544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Borderline organizations created judgment calls other team members wouldn’t have made the same way — or endless re-evaluation as we improved the rules on the fly.</a:t>
            </a:r>
            <a:endParaRPr lang="en-US" sz="1250" dirty="0"/>
          </a:p>
        </p:txBody>
      </p:sp>
      <p:sp>
        <p:nvSpPr>
          <p:cNvPr id="20" name="Shape 18"/>
          <p:cNvSpPr/>
          <p:nvPr/>
        </p:nvSpPr>
        <p:spPr>
          <a:xfrm>
            <a:off x="9015755" y="1965960"/>
            <a:ext cx="2535860" cy="3291840"/>
          </a:xfrm>
          <a:prstGeom prst="roundRect">
            <a:avLst>
              <a:gd name="adj" fmla="val 2524"/>
            </a:avLst>
          </a:prstGeom>
          <a:solidFill>
            <a:srgbClr val="26433E"/>
          </a:solidFill>
          <a:ln w="12700">
            <a:solidFill>
              <a:srgbClr val="31514B"/>
            </a:solidFill>
            <a:prstDash val="solid"/>
          </a:ln>
        </p:spPr>
      </p:sp>
      <p:sp>
        <p:nvSpPr>
          <p:cNvPr id="21" name="Shape 19"/>
          <p:cNvSpPr/>
          <p:nvPr/>
        </p:nvSpPr>
        <p:spPr>
          <a:xfrm>
            <a:off x="9253499" y="2194560"/>
            <a:ext cx="384048" cy="384048"/>
          </a:xfrm>
          <a:prstGeom prst="ellipse">
            <a:avLst/>
          </a:prstGeom>
          <a:solidFill>
            <a:srgbClr val="B5563C"/>
          </a:solidFill>
          <a:ln w="12700">
            <a:solidFill>
              <a:srgbClr val="333333"/>
            </a:solidFill>
            <a:prstDash val="solid"/>
          </a:ln>
        </p:spPr>
      </p:sp>
      <p:sp>
        <p:nvSpPr>
          <p:cNvPr id="22" name="Text 20"/>
          <p:cNvSpPr txBox="1"/>
          <p:nvPr/>
        </p:nvSpPr>
        <p:spPr>
          <a:xfrm>
            <a:off x="9253499"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253499" y="2724912"/>
            <a:ext cx="2060372" cy="777240"/>
          </a:xfrm>
          <a:prstGeom prst="rect">
            <a:avLst/>
          </a:prstGeom>
          <a:noFill/>
          <a:ln/>
        </p:spPr>
        <p:txBody>
          <a:bodyPr wrap="square" lIns="0" tIns="0" rIns="0" bIns="0" rtlCol="0" anchor="ctr"/>
          <a:lstStyle/>
          <a:p>
            <a:pPr indent="0" marL="0">
              <a:lnSpc>
                <a:spcPts val="2100"/>
              </a:lnSpc>
              <a:buNone/>
            </a:pPr>
            <a:r>
              <a:rPr lang="en-US" sz="1600" b="1" dirty="0">
                <a:solidFill>
                  <a:srgbClr val="FFFFFF"/>
                </a:solidFill>
                <a:latin typeface="Georgia" pitchFamily="34" charset="0"/>
                <a:ea typeface="Georgia" pitchFamily="34" charset="-122"/>
                <a:cs typeface="Georgia" pitchFamily="34" charset="-120"/>
              </a:rPr>
              <a:t>The AI use wouldn’t pass</a:t>
            </a:r>
            <a:endParaRPr lang="en-US" sz="1600" dirty="0"/>
          </a:p>
        </p:txBody>
      </p:sp>
      <p:sp>
        <p:nvSpPr>
          <p:cNvPr id="24" name="Text 22"/>
          <p:cNvSpPr txBox="1"/>
          <p:nvPr/>
        </p:nvSpPr>
        <p:spPr>
          <a:xfrm>
            <a:off x="9253499" y="3566160"/>
            <a:ext cx="2060372" cy="15544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We probably weren’t going to meet journals’ new standards for where AI is allowed and where it isn’t.</a:t>
            </a:r>
            <a:endParaRPr lang="en-US" sz="1250" dirty="0"/>
          </a:p>
        </p:txBody>
      </p:sp>
      <p:sp>
        <p:nvSpPr>
          <p:cNvPr id="25" name="Text 23"/>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9AA8A3"/>
                </a:solidFill>
                <a:latin typeface="Calibri" pitchFamily="34" charset="0"/>
                <a:ea typeface="Calibri" pitchFamily="34" charset="-122"/>
                <a:cs typeface="Calibri" pitchFamily="34" charset="-120"/>
              </a:rPr>
              <a:t>Everything in the new plan exists to fix one of these four.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So the new strategy has to do this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Shape 2"/>
          <p:cNvSpPr/>
          <p:nvPr/>
        </p:nvSpPr>
        <p:spPr>
          <a:xfrm>
            <a:off x="640080" y="1874520"/>
            <a:ext cx="128016" cy="128016"/>
          </a:xfrm>
          <a:prstGeom prst="rect">
            <a:avLst/>
          </a:prstGeom>
          <a:solidFill>
            <a:srgbClr val="5E8B7E"/>
          </a:solidFill>
          <a:ln w="12700">
            <a:solidFill>
              <a:srgbClr val="333333"/>
            </a:solidFill>
            <a:prstDash val="solid"/>
          </a:ln>
        </p:spPr>
      </p:sp>
      <p:sp>
        <p:nvSpPr>
          <p:cNvPr id="5" name="Text 3"/>
          <p:cNvSpPr txBox="1"/>
          <p:nvPr/>
        </p:nvSpPr>
        <p:spPr>
          <a:xfrm>
            <a:off x="1024128" y="1737360"/>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Give us a finite number of organizations to draw from, instead of an infinite pool of endless googling.</a:t>
            </a:r>
            <a:endParaRPr lang="en-US" sz="1450" dirty="0"/>
          </a:p>
        </p:txBody>
      </p:sp>
      <p:sp>
        <p:nvSpPr>
          <p:cNvPr id="6" name="Shape 4"/>
          <p:cNvSpPr/>
          <p:nvPr/>
        </p:nvSpPr>
        <p:spPr>
          <a:xfrm>
            <a:off x="640080" y="2532888"/>
            <a:ext cx="128016" cy="128016"/>
          </a:xfrm>
          <a:prstGeom prst="rect">
            <a:avLst/>
          </a:prstGeom>
          <a:solidFill>
            <a:srgbClr val="5E8B7E"/>
          </a:solidFill>
          <a:ln w="12700">
            <a:solidFill>
              <a:srgbClr val="333333"/>
            </a:solidFill>
            <a:prstDash val="solid"/>
          </a:ln>
        </p:spPr>
      </p:sp>
      <p:sp>
        <p:nvSpPr>
          <p:cNvPr id="7" name="Text 5"/>
          <p:cNvSpPr txBox="1"/>
          <p:nvPr/>
        </p:nvSpPr>
        <p:spPr>
          <a:xfrm>
            <a:off x="1024128" y="2395728"/>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Give us clear rules for which organizations make the cut and which don’t.</a:t>
            </a:r>
            <a:endParaRPr lang="en-US" sz="1450" dirty="0"/>
          </a:p>
        </p:txBody>
      </p:sp>
      <p:sp>
        <p:nvSpPr>
          <p:cNvPr id="8" name="Shape 6"/>
          <p:cNvSpPr/>
          <p:nvPr/>
        </p:nvSpPr>
        <p:spPr>
          <a:xfrm>
            <a:off x="640080" y="3191256"/>
            <a:ext cx="128016" cy="128016"/>
          </a:xfrm>
          <a:prstGeom prst="rect">
            <a:avLst/>
          </a:prstGeom>
          <a:solidFill>
            <a:srgbClr val="5E8B7E"/>
          </a:solidFill>
          <a:ln w="12700">
            <a:solidFill>
              <a:srgbClr val="333333"/>
            </a:solidFill>
            <a:prstDash val="solid"/>
          </a:ln>
        </p:spPr>
      </p:sp>
      <p:sp>
        <p:nvSpPr>
          <p:cNvPr id="9" name="Text 7"/>
          <p:cNvSpPr txBox="1"/>
          <p:nvPr/>
        </p:nvSpPr>
        <p:spPr>
          <a:xfrm>
            <a:off x="1024128" y="3054096"/>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Hit organizations that originate from different traditions: civic tech, PIT, tech for good.</a:t>
            </a:r>
            <a:endParaRPr lang="en-US" sz="1450" dirty="0"/>
          </a:p>
        </p:txBody>
      </p:sp>
      <p:sp>
        <p:nvSpPr>
          <p:cNvPr id="10" name="Shape 8"/>
          <p:cNvSpPr/>
          <p:nvPr/>
        </p:nvSpPr>
        <p:spPr>
          <a:xfrm>
            <a:off x="640080" y="3849624"/>
            <a:ext cx="128016" cy="128016"/>
          </a:xfrm>
          <a:prstGeom prst="rect">
            <a:avLst/>
          </a:prstGeom>
          <a:solidFill>
            <a:srgbClr val="5E8B7E"/>
          </a:solidFill>
          <a:ln w="12700">
            <a:solidFill>
              <a:srgbClr val="333333"/>
            </a:solidFill>
            <a:prstDash val="solid"/>
          </a:ln>
        </p:spPr>
      </p:sp>
      <p:sp>
        <p:nvSpPr>
          <p:cNvPr id="11" name="Text 9"/>
          <p:cNvSpPr txBox="1"/>
          <p:nvPr/>
        </p:nvSpPr>
        <p:spPr>
          <a:xfrm>
            <a:off x="1024128" y="3712464"/>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But not require a whole big fat census, or claims about the overall proportion of organizations from each source.</a:t>
            </a:r>
            <a:endParaRPr lang="en-US" sz="1450" dirty="0"/>
          </a:p>
        </p:txBody>
      </p:sp>
      <p:sp>
        <p:nvSpPr>
          <p:cNvPr id="12" name="Shape 10"/>
          <p:cNvSpPr/>
          <p:nvPr/>
        </p:nvSpPr>
        <p:spPr>
          <a:xfrm>
            <a:off x="640080" y="4507992"/>
            <a:ext cx="128016" cy="128016"/>
          </a:xfrm>
          <a:prstGeom prst="rect">
            <a:avLst/>
          </a:prstGeom>
          <a:solidFill>
            <a:srgbClr val="5E8B7E"/>
          </a:solidFill>
          <a:ln w="12700">
            <a:solidFill>
              <a:srgbClr val="333333"/>
            </a:solidFill>
            <a:prstDash val="solid"/>
          </a:ln>
        </p:spPr>
      </p:sp>
      <p:sp>
        <p:nvSpPr>
          <p:cNvPr id="13" name="Text 11"/>
          <p:cNvSpPr txBox="1"/>
          <p:nvPr/>
        </p:nvSpPr>
        <p:spPr>
          <a:xfrm>
            <a:off x="1024128" y="4370832"/>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Allow flexibility in language, so different ways of thinking can emerge instead of being ignored because we used the wrong search terms.</a:t>
            </a:r>
            <a:endParaRPr lang="en-US" sz="1450" dirty="0"/>
          </a:p>
        </p:txBody>
      </p:sp>
      <p:sp>
        <p:nvSpPr>
          <p:cNvPr id="14" name="Shape 12"/>
          <p:cNvSpPr/>
          <p:nvPr/>
        </p:nvSpPr>
        <p:spPr>
          <a:xfrm>
            <a:off x="640080" y="5166360"/>
            <a:ext cx="128016" cy="128016"/>
          </a:xfrm>
          <a:prstGeom prst="rect">
            <a:avLst/>
          </a:prstGeom>
          <a:solidFill>
            <a:srgbClr val="5E8B7E"/>
          </a:solidFill>
          <a:ln w="12700">
            <a:solidFill>
              <a:srgbClr val="333333"/>
            </a:solidFill>
            <a:prstDash val="solid"/>
          </a:ln>
        </p:spPr>
      </p:sp>
      <p:sp>
        <p:nvSpPr>
          <p:cNvPr id="15" name="Text 13"/>
          <p:cNvSpPr txBox="1"/>
          <p:nvPr/>
        </p:nvSpPr>
        <p:spPr>
          <a:xfrm>
            <a:off x="1024128" y="5029200"/>
            <a:ext cx="10362895" cy="457200"/>
          </a:xfrm>
          <a:prstGeom prst="rect">
            <a:avLst/>
          </a:prstGeom>
          <a:noFill/>
          <a:ln/>
        </p:spPr>
        <p:txBody>
          <a:bodyPr wrap="square" lIns="0" tIns="0" rIns="0" bIns="0" rtlCol="0" anchor="ctr"/>
          <a:lstStyle/>
          <a:p>
            <a:pPr indent="0" marL="0">
              <a:lnSpc>
                <a:spcPts val="2100"/>
              </a:lnSpc>
              <a:buNone/>
            </a:pPr>
            <a:r>
              <a:rPr lang="en-US" sz="1450" dirty="0">
                <a:solidFill>
                  <a:srgbClr val="1B3330"/>
                </a:solidFill>
                <a:latin typeface="Calibri" pitchFamily="34" charset="0"/>
                <a:ea typeface="Calibri" pitchFamily="34" charset="-122"/>
                <a:cs typeface="Calibri" pitchFamily="34" charset="-120"/>
              </a:rPr>
              <a:t>Give us a reasonable stopping rule, so we don’t have to manually code every organization.</a:t>
            </a:r>
            <a:endParaRPr lang="en-US" sz="1450" dirty="0"/>
          </a:p>
        </p:txBody>
      </p:sp>
      <p:sp>
        <p:nvSpPr>
          <p:cNvPr id="16" name="Shape 14"/>
          <p:cNvSpPr/>
          <p:nvPr/>
        </p:nvSpPr>
        <p:spPr>
          <a:xfrm>
            <a:off x="640080" y="5687568"/>
            <a:ext cx="10911535" cy="731520"/>
          </a:xfrm>
          <a:prstGeom prst="roundRect">
            <a:avLst>
              <a:gd name="adj" fmla="val 8750"/>
            </a:avLst>
          </a:prstGeom>
          <a:solidFill>
            <a:srgbClr val="F0E9E1"/>
          </a:solidFill>
          <a:ln w="12700">
            <a:solidFill>
              <a:srgbClr val="E0D3C7"/>
            </a:solidFill>
            <a:prstDash val="solid"/>
          </a:ln>
        </p:spPr>
      </p:sp>
      <p:sp>
        <p:nvSpPr>
          <p:cNvPr id="17" name="Text 15"/>
          <p:cNvSpPr txBox="1"/>
          <p:nvPr/>
        </p:nvSpPr>
        <p:spPr>
          <a:xfrm>
            <a:off x="932688" y="5833872"/>
            <a:ext cx="10326319" cy="457200"/>
          </a:xfrm>
          <a:prstGeom prst="rect">
            <a:avLst/>
          </a:prstGeom>
          <a:noFill/>
          <a:ln/>
        </p:spPr>
        <p:txBody>
          <a:bodyPr wrap="square" lIns="0" tIns="0" rIns="0" bIns="0" rtlCol="0" anchor="ctr"/>
          <a:lstStyle/>
          <a:p>
            <a:pPr indent="0" marL="0">
              <a:buNone/>
            </a:pPr>
            <a:r>
              <a:rPr lang="en-US" sz="1400" b="1" dirty="0">
                <a:solidFill>
                  <a:srgbClr val="B5563C"/>
                </a:solidFill>
                <a:latin typeface="Calibri" pitchFamily="34" charset="0"/>
                <a:ea typeface="Calibri" pitchFamily="34" charset="-122"/>
                <a:cs typeface="Calibri" pitchFamily="34" charset="-120"/>
              </a:rPr>
              <a:t>And it puts AI exactly where a human can check its work cheaply, and keeps it away from the judgments that make this study worth doing.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The plan, in ten steps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Shape 2"/>
          <p:cNvSpPr/>
          <p:nvPr/>
        </p:nvSpPr>
        <p:spPr>
          <a:xfrm>
            <a:off x="640080" y="1828800"/>
            <a:ext cx="2006742" cy="1691640"/>
          </a:xfrm>
          <a:prstGeom prst="roundRect">
            <a:avLst>
              <a:gd name="adj" fmla="val 3784"/>
            </a:avLst>
          </a:prstGeom>
          <a:solidFill>
            <a:srgbClr val="FFFFFF"/>
          </a:solidFill>
          <a:ln w="12700">
            <a:solidFill>
              <a:srgbClr val="E4DDD1"/>
            </a:solidFill>
            <a:prstDash val="solid"/>
          </a:ln>
        </p:spPr>
      </p:sp>
      <p:sp>
        <p:nvSpPr>
          <p:cNvPr id="5" name="Shape 3"/>
          <p:cNvSpPr/>
          <p:nvPr/>
        </p:nvSpPr>
        <p:spPr>
          <a:xfrm>
            <a:off x="859536" y="2066544"/>
            <a:ext cx="384048" cy="384048"/>
          </a:xfrm>
          <a:prstGeom prst="ellipse">
            <a:avLst/>
          </a:prstGeom>
          <a:solidFill>
            <a:srgbClr val="5E8B7E"/>
          </a:solidFill>
          <a:ln w="12700">
            <a:solidFill>
              <a:srgbClr val="333333"/>
            </a:solidFill>
            <a:prstDash val="solid"/>
          </a:ln>
        </p:spPr>
      </p:sp>
      <p:sp>
        <p:nvSpPr>
          <p:cNvPr id="6" name="Text 4"/>
          <p:cNvSpPr txBox="1"/>
          <p:nvPr/>
        </p:nvSpPr>
        <p:spPr>
          <a:xfrm>
            <a:off x="859536"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59536" y="259689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Start from eight frames</a:t>
            </a:r>
            <a:endParaRPr lang="en-US" sz="1350" dirty="0"/>
          </a:p>
        </p:txBody>
      </p:sp>
      <p:sp>
        <p:nvSpPr>
          <p:cNvPr id="8" name="Shape 6"/>
          <p:cNvSpPr/>
          <p:nvPr/>
        </p:nvSpPr>
        <p:spPr>
          <a:xfrm>
            <a:off x="2866278" y="1828800"/>
            <a:ext cx="2006742" cy="1691640"/>
          </a:xfrm>
          <a:prstGeom prst="roundRect">
            <a:avLst>
              <a:gd name="adj" fmla="val 3784"/>
            </a:avLst>
          </a:prstGeom>
          <a:solidFill>
            <a:srgbClr val="FFFFFF"/>
          </a:solidFill>
          <a:ln w="12700">
            <a:solidFill>
              <a:srgbClr val="E4DDD1"/>
            </a:solidFill>
            <a:prstDash val="solid"/>
          </a:ln>
        </p:spPr>
      </p:sp>
      <p:sp>
        <p:nvSpPr>
          <p:cNvPr id="9" name="Shape 7"/>
          <p:cNvSpPr/>
          <p:nvPr/>
        </p:nvSpPr>
        <p:spPr>
          <a:xfrm>
            <a:off x="3085734" y="2066544"/>
            <a:ext cx="384048" cy="384048"/>
          </a:xfrm>
          <a:prstGeom prst="ellipse">
            <a:avLst/>
          </a:prstGeom>
          <a:solidFill>
            <a:srgbClr val="5E8B7E"/>
          </a:solidFill>
          <a:ln w="12700">
            <a:solidFill>
              <a:srgbClr val="333333"/>
            </a:solidFill>
            <a:prstDash val="solid"/>
          </a:ln>
        </p:spPr>
      </p:sp>
      <p:sp>
        <p:nvSpPr>
          <p:cNvPr id="10" name="Text 8"/>
          <p:cNvSpPr txBox="1"/>
          <p:nvPr/>
        </p:nvSpPr>
        <p:spPr>
          <a:xfrm>
            <a:off x="3085734"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3085734" y="259689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Pull the rosters, merge duplicates</a:t>
            </a:r>
            <a:endParaRPr lang="en-US" sz="1350" dirty="0"/>
          </a:p>
        </p:txBody>
      </p:sp>
      <p:sp>
        <p:nvSpPr>
          <p:cNvPr id="12" name="Shape 10"/>
          <p:cNvSpPr/>
          <p:nvPr/>
        </p:nvSpPr>
        <p:spPr>
          <a:xfrm>
            <a:off x="5092476" y="1828800"/>
            <a:ext cx="2006742" cy="1691640"/>
          </a:xfrm>
          <a:prstGeom prst="roundRect">
            <a:avLst>
              <a:gd name="adj" fmla="val 3784"/>
            </a:avLst>
          </a:prstGeom>
          <a:solidFill>
            <a:srgbClr val="FFFFFF"/>
          </a:solidFill>
          <a:ln w="12700">
            <a:solidFill>
              <a:srgbClr val="E4DDD1"/>
            </a:solidFill>
            <a:prstDash val="solid"/>
          </a:ln>
        </p:spPr>
      </p:sp>
      <p:sp>
        <p:nvSpPr>
          <p:cNvPr id="13" name="Shape 11"/>
          <p:cNvSpPr/>
          <p:nvPr/>
        </p:nvSpPr>
        <p:spPr>
          <a:xfrm>
            <a:off x="5311932" y="2066544"/>
            <a:ext cx="384048" cy="384048"/>
          </a:xfrm>
          <a:prstGeom prst="ellipse">
            <a:avLst/>
          </a:prstGeom>
          <a:solidFill>
            <a:srgbClr val="5E8B7E"/>
          </a:solidFill>
          <a:ln w="12700">
            <a:solidFill>
              <a:srgbClr val="333333"/>
            </a:solidFill>
            <a:prstDash val="solid"/>
          </a:ln>
        </p:spPr>
      </p:sp>
      <p:sp>
        <p:nvSpPr>
          <p:cNvPr id="14" name="Text 12"/>
          <p:cNvSpPr txBox="1"/>
          <p:nvPr/>
        </p:nvSpPr>
        <p:spPr>
          <a:xfrm>
            <a:off x="5311932"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5311932" y="259689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The two cheap screening criteria</a:t>
            </a:r>
            <a:endParaRPr lang="en-US" sz="1350" dirty="0"/>
          </a:p>
        </p:txBody>
      </p:sp>
      <p:sp>
        <p:nvSpPr>
          <p:cNvPr id="16" name="Shape 14"/>
          <p:cNvSpPr/>
          <p:nvPr/>
        </p:nvSpPr>
        <p:spPr>
          <a:xfrm>
            <a:off x="7318675" y="1828800"/>
            <a:ext cx="2006742" cy="1691640"/>
          </a:xfrm>
          <a:prstGeom prst="roundRect">
            <a:avLst>
              <a:gd name="adj" fmla="val 3784"/>
            </a:avLst>
          </a:prstGeom>
          <a:solidFill>
            <a:srgbClr val="FFFFFF"/>
          </a:solidFill>
          <a:ln w="12700">
            <a:solidFill>
              <a:srgbClr val="E4DDD1"/>
            </a:solidFill>
            <a:prstDash val="solid"/>
          </a:ln>
        </p:spPr>
      </p:sp>
      <p:sp>
        <p:nvSpPr>
          <p:cNvPr id="17" name="Shape 15"/>
          <p:cNvSpPr/>
          <p:nvPr/>
        </p:nvSpPr>
        <p:spPr>
          <a:xfrm>
            <a:off x="7538131" y="2066544"/>
            <a:ext cx="384048" cy="384048"/>
          </a:xfrm>
          <a:prstGeom prst="ellipse">
            <a:avLst/>
          </a:prstGeom>
          <a:solidFill>
            <a:srgbClr val="5E8B7E"/>
          </a:solidFill>
          <a:ln w="12700">
            <a:solidFill>
              <a:srgbClr val="333333"/>
            </a:solidFill>
            <a:prstDash val="solid"/>
          </a:ln>
        </p:spPr>
      </p:sp>
      <p:sp>
        <p:nvSpPr>
          <p:cNvPr id="18" name="Text 16"/>
          <p:cNvSpPr txBox="1"/>
          <p:nvPr/>
        </p:nvSpPr>
        <p:spPr>
          <a:xfrm>
            <a:off x="7538131"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7538131" y="259689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Run the lexicon script</a:t>
            </a:r>
            <a:endParaRPr lang="en-US" sz="1350" dirty="0"/>
          </a:p>
        </p:txBody>
      </p:sp>
      <p:sp>
        <p:nvSpPr>
          <p:cNvPr id="20" name="Shape 18"/>
          <p:cNvSpPr/>
          <p:nvPr/>
        </p:nvSpPr>
        <p:spPr>
          <a:xfrm>
            <a:off x="9544873" y="1828800"/>
            <a:ext cx="2006742" cy="1691640"/>
          </a:xfrm>
          <a:prstGeom prst="roundRect">
            <a:avLst>
              <a:gd name="adj" fmla="val 3784"/>
            </a:avLst>
          </a:prstGeom>
          <a:solidFill>
            <a:srgbClr val="FFFFFF"/>
          </a:solidFill>
          <a:ln w="12700">
            <a:solidFill>
              <a:srgbClr val="E4DDD1"/>
            </a:solidFill>
            <a:prstDash val="solid"/>
          </a:ln>
        </p:spPr>
      </p:sp>
      <p:sp>
        <p:nvSpPr>
          <p:cNvPr id="21" name="Shape 19"/>
          <p:cNvSpPr/>
          <p:nvPr/>
        </p:nvSpPr>
        <p:spPr>
          <a:xfrm>
            <a:off x="9764329" y="2066544"/>
            <a:ext cx="384048" cy="384048"/>
          </a:xfrm>
          <a:prstGeom prst="ellipse">
            <a:avLst/>
          </a:prstGeom>
          <a:solidFill>
            <a:srgbClr val="5E8B7E"/>
          </a:solidFill>
          <a:ln w="12700">
            <a:solidFill>
              <a:srgbClr val="333333"/>
            </a:solidFill>
            <a:prstDash val="solid"/>
          </a:ln>
        </p:spPr>
      </p:sp>
      <p:sp>
        <p:nvSpPr>
          <p:cNvPr id="22" name="Text 20"/>
          <p:cNvSpPr txBox="1"/>
          <p:nvPr/>
        </p:nvSpPr>
        <p:spPr>
          <a:xfrm>
            <a:off x="9764329" y="2066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9764329" y="259689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Build the sixteen buckets</a:t>
            </a:r>
            <a:endParaRPr lang="en-US" sz="1350" dirty="0"/>
          </a:p>
        </p:txBody>
      </p:sp>
      <p:sp>
        <p:nvSpPr>
          <p:cNvPr id="24" name="Shape 22"/>
          <p:cNvSpPr/>
          <p:nvPr/>
        </p:nvSpPr>
        <p:spPr>
          <a:xfrm>
            <a:off x="640080" y="4023360"/>
            <a:ext cx="2006742" cy="1691640"/>
          </a:xfrm>
          <a:prstGeom prst="roundRect">
            <a:avLst>
              <a:gd name="adj" fmla="val 3784"/>
            </a:avLst>
          </a:prstGeom>
          <a:solidFill>
            <a:srgbClr val="FFFFFF"/>
          </a:solidFill>
          <a:ln w="12700">
            <a:solidFill>
              <a:srgbClr val="E4DDD1"/>
            </a:solidFill>
            <a:prstDash val="solid"/>
          </a:ln>
        </p:spPr>
      </p:sp>
      <p:sp>
        <p:nvSpPr>
          <p:cNvPr id="25" name="Shape 23"/>
          <p:cNvSpPr/>
          <p:nvPr/>
        </p:nvSpPr>
        <p:spPr>
          <a:xfrm>
            <a:off x="859536" y="4261104"/>
            <a:ext cx="384048" cy="384048"/>
          </a:xfrm>
          <a:prstGeom prst="ellipse">
            <a:avLst/>
          </a:prstGeom>
          <a:solidFill>
            <a:srgbClr val="B5563C"/>
          </a:solidFill>
          <a:ln w="12700">
            <a:solidFill>
              <a:srgbClr val="333333"/>
            </a:solidFill>
            <a:prstDash val="solid"/>
          </a:ln>
        </p:spPr>
      </p:sp>
      <p:sp>
        <p:nvSpPr>
          <p:cNvPr id="26" name="Text 24"/>
          <p:cNvSpPr txBox="1"/>
          <p:nvPr/>
        </p:nvSpPr>
        <p:spPr>
          <a:xfrm>
            <a:off x="859536"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859536" y="479145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Calibration — the three harder criteria</a:t>
            </a:r>
            <a:endParaRPr lang="en-US" sz="1350" dirty="0"/>
          </a:p>
        </p:txBody>
      </p:sp>
      <p:sp>
        <p:nvSpPr>
          <p:cNvPr id="28" name="Shape 26"/>
          <p:cNvSpPr/>
          <p:nvPr/>
        </p:nvSpPr>
        <p:spPr>
          <a:xfrm>
            <a:off x="2866278" y="4023360"/>
            <a:ext cx="2006742" cy="1691640"/>
          </a:xfrm>
          <a:prstGeom prst="roundRect">
            <a:avLst>
              <a:gd name="adj" fmla="val 3784"/>
            </a:avLst>
          </a:prstGeom>
          <a:solidFill>
            <a:srgbClr val="FFFFFF"/>
          </a:solidFill>
          <a:ln w="12700">
            <a:solidFill>
              <a:srgbClr val="E4DDD1"/>
            </a:solidFill>
            <a:prstDash val="solid"/>
          </a:ln>
        </p:spPr>
      </p:sp>
      <p:sp>
        <p:nvSpPr>
          <p:cNvPr id="29" name="Shape 27"/>
          <p:cNvSpPr/>
          <p:nvPr/>
        </p:nvSpPr>
        <p:spPr>
          <a:xfrm>
            <a:off x="3085734" y="4261104"/>
            <a:ext cx="384048" cy="384048"/>
          </a:xfrm>
          <a:prstGeom prst="ellipse">
            <a:avLst/>
          </a:prstGeom>
          <a:solidFill>
            <a:srgbClr val="B5563C"/>
          </a:solidFill>
          <a:ln w="12700">
            <a:solidFill>
              <a:srgbClr val="333333"/>
            </a:solidFill>
            <a:prstDash val="solid"/>
          </a:ln>
        </p:spPr>
      </p:sp>
      <p:sp>
        <p:nvSpPr>
          <p:cNvPr id="30" name="Text 28"/>
          <p:cNvSpPr txBox="1"/>
          <p:nvPr/>
        </p:nvSpPr>
        <p:spPr>
          <a:xfrm>
            <a:off x="3085734"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3085734" y="479145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Calibration — everything else</a:t>
            </a:r>
            <a:endParaRPr lang="en-US" sz="1350" dirty="0"/>
          </a:p>
        </p:txBody>
      </p:sp>
      <p:sp>
        <p:nvSpPr>
          <p:cNvPr id="32" name="Shape 30"/>
          <p:cNvSpPr/>
          <p:nvPr/>
        </p:nvSpPr>
        <p:spPr>
          <a:xfrm>
            <a:off x="5092476" y="4023360"/>
            <a:ext cx="2006742" cy="1691640"/>
          </a:xfrm>
          <a:prstGeom prst="roundRect">
            <a:avLst>
              <a:gd name="adj" fmla="val 3784"/>
            </a:avLst>
          </a:prstGeom>
          <a:solidFill>
            <a:srgbClr val="FFFFFF"/>
          </a:solidFill>
          <a:ln w="12700">
            <a:solidFill>
              <a:srgbClr val="E4DDD1"/>
            </a:solidFill>
            <a:prstDash val="solid"/>
          </a:ln>
        </p:spPr>
      </p:sp>
      <p:sp>
        <p:nvSpPr>
          <p:cNvPr id="33" name="Shape 31"/>
          <p:cNvSpPr/>
          <p:nvPr/>
        </p:nvSpPr>
        <p:spPr>
          <a:xfrm>
            <a:off x="5311932" y="4261104"/>
            <a:ext cx="384048" cy="384048"/>
          </a:xfrm>
          <a:prstGeom prst="ellipse">
            <a:avLst/>
          </a:prstGeom>
          <a:solidFill>
            <a:srgbClr val="B5563C"/>
          </a:solidFill>
          <a:ln w="12700">
            <a:solidFill>
              <a:srgbClr val="333333"/>
            </a:solidFill>
            <a:prstDash val="solid"/>
          </a:ln>
        </p:spPr>
      </p:sp>
      <p:sp>
        <p:nvSpPr>
          <p:cNvPr id="34" name="Text 32"/>
          <p:cNvSpPr txBox="1"/>
          <p:nvPr/>
        </p:nvSpPr>
        <p:spPr>
          <a:xfrm>
            <a:off x="5311932"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5311932" y="479145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Calibration round two</a:t>
            </a:r>
            <a:endParaRPr lang="en-US" sz="1350" dirty="0"/>
          </a:p>
        </p:txBody>
      </p:sp>
      <p:sp>
        <p:nvSpPr>
          <p:cNvPr id="36" name="Shape 34"/>
          <p:cNvSpPr/>
          <p:nvPr/>
        </p:nvSpPr>
        <p:spPr>
          <a:xfrm>
            <a:off x="7318675" y="4023360"/>
            <a:ext cx="2006742" cy="1691640"/>
          </a:xfrm>
          <a:prstGeom prst="roundRect">
            <a:avLst>
              <a:gd name="adj" fmla="val 3784"/>
            </a:avLst>
          </a:prstGeom>
          <a:solidFill>
            <a:srgbClr val="FFFFFF"/>
          </a:solidFill>
          <a:ln w="12700">
            <a:solidFill>
              <a:srgbClr val="E4DDD1"/>
            </a:solidFill>
            <a:prstDash val="solid"/>
          </a:ln>
        </p:spPr>
      </p:sp>
      <p:sp>
        <p:nvSpPr>
          <p:cNvPr id="37" name="Shape 35"/>
          <p:cNvSpPr/>
          <p:nvPr/>
        </p:nvSpPr>
        <p:spPr>
          <a:xfrm>
            <a:off x="7538131" y="4261104"/>
            <a:ext cx="384048" cy="384048"/>
          </a:xfrm>
          <a:prstGeom prst="ellipse">
            <a:avLst/>
          </a:prstGeom>
          <a:solidFill>
            <a:srgbClr val="B5563C"/>
          </a:solidFill>
          <a:ln w="12700">
            <a:solidFill>
              <a:srgbClr val="333333"/>
            </a:solidFill>
            <a:prstDash val="solid"/>
          </a:ln>
        </p:spPr>
      </p:sp>
      <p:sp>
        <p:nvSpPr>
          <p:cNvPr id="38" name="Text 36"/>
          <p:cNvSpPr txBox="1"/>
          <p:nvPr/>
        </p:nvSpPr>
        <p:spPr>
          <a:xfrm>
            <a:off x="7538131"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7538131" y="479145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Code the rest</a:t>
            </a:r>
            <a:endParaRPr lang="en-US" sz="1350" dirty="0"/>
          </a:p>
        </p:txBody>
      </p:sp>
      <p:sp>
        <p:nvSpPr>
          <p:cNvPr id="40" name="Shape 38"/>
          <p:cNvSpPr/>
          <p:nvPr/>
        </p:nvSpPr>
        <p:spPr>
          <a:xfrm>
            <a:off x="9544873" y="4023360"/>
            <a:ext cx="2006742" cy="1691640"/>
          </a:xfrm>
          <a:prstGeom prst="roundRect">
            <a:avLst>
              <a:gd name="adj" fmla="val 3784"/>
            </a:avLst>
          </a:prstGeom>
          <a:solidFill>
            <a:srgbClr val="FFFFFF"/>
          </a:solidFill>
          <a:ln w="12700">
            <a:solidFill>
              <a:srgbClr val="E4DDD1"/>
            </a:solidFill>
            <a:prstDash val="solid"/>
          </a:ln>
        </p:spPr>
      </p:sp>
      <p:sp>
        <p:nvSpPr>
          <p:cNvPr id="41" name="Shape 39"/>
          <p:cNvSpPr/>
          <p:nvPr/>
        </p:nvSpPr>
        <p:spPr>
          <a:xfrm>
            <a:off x="9764329" y="4261104"/>
            <a:ext cx="384048" cy="384048"/>
          </a:xfrm>
          <a:prstGeom prst="ellipse">
            <a:avLst/>
          </a:prstGeom>
          <a:solidFill>
            <a:srgbClr val="B5563C"/>
          </a:solidFill>
          <a:ln w="12700">
            <a:solidFill>
              <a:srgbClr val="333333"/>
            </a:solidFill>
            <a:prstDash val="solid"/>
          </a:ln>
        </p:spPr>
      </p:sp>
      <p:sp>
        <p:nvSpPr>
          <p:cNvPr id="42" name="Text 40"/>
          <p:cNvSpPr txBox="1"/>
          <p:nvPr/>
        </p:nvSpPr>
        <p:spPr>
          <a:xfrm>
            <a:off x="9764329" y="4261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9764329" y="4791456"/>
            <a:ext cx="1567830" cy="822960"/>
          </a:xfrm>
          <a:prstGeom prst="rect">
            <a:avLst/>
          </a:prstGeom>
          <a:noFill/>
          <a:ln/>
        </p:spPr>
        <p:txBody>
          <a:bodyPr wrap="square" lIns="0" tIns="0" rIns="0" bIns="0" rtlCol="0" anchor="ctr"/>
          <a:lstStyle/>
          <a:p>
            <a:pPr indent="0" marL="0">
              <a:lnSpc>
                <a:spcPts val="1800"/>
              </a:lnSpc>
              <a:buNone/>
            </a:pPr>
            <a:r>
              <a:rPr lang="en-US" sz="1350" b="1" dirty="0">
                <a:solidFill>
                  <a:srgbClr val="1B3330"/>
                </a:solidFill>
                <a:latin typeface="Georgia" pitchFamily="34" charset="0"/>
                <a:ea typeface="Georgia" pitchFamily="34" charset="-122"/>
                <a:cs typeface="Georgia" pitchFamily="34" charset="-120"/>
              </a:rPr>
              <a:t>Stop at saturation</a:t>
            </a:r>
            <a:endParaRPr lang="en-US" sz="1350" dirty="0"/>
          </a:p>
        </p:txBody>
      </p:sp>
      <p:sp>
        <p:nvSpPr>
          <p:cNvPr id="44" name="Text 42"/>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6B7A75"/>
                </a:solidFill>
                <a:latin typeface="Calibri" pitchFamily="34" charset="0"/>
                <a:ea typeface="Calibri" pitchFamily="34" charset="-122"/>
                <a:cs typeface="Calibri" pitchFamily="34" charset="-120"/>
              </a:rPr>
              <a:t>Steps 1–5 build the pool and fix the order. Steps 6–10 are the coding.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1 — Start from eight frames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Organizations that support or fund many other groups and publish a list of them.</a:t>
            </a:r>
            <a:endParaRPr lang="en-US" sz="1450" dirty="0"/>
          </a:p>
        </p:txBody>
      </p:sp>
      <p:sp>
        <p:nvSpPr>
          <p:cNvPr id="5" name="Shape 3"/>
          <p:cNvSpPr/>
          <p:nvPr/>
        </p:nvSpPr>
        <p:spPr>
          <a:xfrm>
            <a:off x="640080" y="1920240"/>
            <a:ext cx="2549576" cy="960120"/>
          </a:xfrm>
          <a:prstGeom prst="roundRect">
            <a:avLst>
              <a:gd name="adj" fmla="val 6667"/>
            </a:avLst>
          </a:prstGeom>
          <a:solidFill>
            <a:srgbClr val="FFFFFF"/>
          </a:solidFill>
          <a:ln w="12700">
            <a:solidFill>
              <a:srgbClr val="E4DDD1"/>
            </a:solidFill>
            <a:prstDash val="solid"/>
          </a:ln>
        </p:spPr>
      </p:sp>
      <p:sp>
        <p:nvSpPr>
          <p:cNvPr id="6" name="Text 4"/>
          <p:cNvSpPr txBox="1"/>
          <p:nvPr/>
        </p:nvSpPr>
        <p:spPr>
          <a:xfrm>
            <a:off x="859536" y="2066544"/>
            <a:ext cx="2110664" cy="237744"/>
          </a:xfrm>
          <a:prstGeom prst="rect">
            <a:avLst/>
          </a:prstGeom>
          <a:noFill/>
          <a:ln/>
        </p:spPr>
        <p:txBody>
          <a:bodyPr wrap="square" lIns="0" tIns="0" rIns="0" bIns="0" rtlCol="0" anchor="ctr"/>
          <a:lstStyle/>
          <a:p>
            <a:pPr indent="0" marL="0">
              <a:buNone/>
            </a:pPr>
            <a:r>
              <a:rPr lang="en-US" sz="950" b="1" spc="120" kern="0" dirty="0">
                <a:solidFill>
                  <a:srgbClr val="5E8B7E"/>
                </a:solidFill>
                <a:latin typeface="Calibri" pitchFamily="34" charset="0"/>
                <a:ea typeface="Calibri" pitchFamily="34" charset="-122"/>
                <a:cs typeface="Calibri" pitchFamily="34" charset="-120"/>
              </a:rPr>
              <a:t>PIT</a:t>
            </a:r>
            <a:endParaRPr lang="en-US" sz="950" dirty="0"/>
          </a:p>
        </p:txBody>
      </p:sp>
      <p:sp>
        <p:nvSpPr>
          <p:cNvPr id="7" name="Text 5"/>
          <p:cNvSpPr txBox="1"/>
          <p:nvPr/>
        </p:nvSpPr>
        <p:spPr>
          <a:xfrm>
            <a:off x="859536" y="2322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PIT University Network</a:t>
            </a:r>
            <a:endParaRPr lang="en-US" sz="1350" dirty="0"/>
          </a:p>
        </p:txBody>
      </p:sp>
      <p:sp>
        <p:nvSpPr>
          <p:cNvPr id="8" name="Shape 6"/>
          <p:cNvSpPr/>
          <p:nvPr/>
        </p:nvSpPr>
        <p:spPr>
          <a:xfrm>
            <a:off x="3427400" y="1920240"/>
            <a:ext cx="2549576" cy="960120"/>
          </a:xfrm>
          <a:prstGeom prst="roundRect">
            <a:avLst>
              <a:gd name="adj" fmla="val 6667"/>
            </a:avLst>
          </a:prstGeom>
          <a:solidFill>
            <a:srgbClr val="FFFFFF"/>
          </a:solidFill>
          <a:ln w="12700">
            <a:solidFill>
              <a:srgbClr val="E4DDD1"/>
            </a:solidFill>
            <a:prstDash val="solid"/>
          </a:ln>
        </p:spPr>
      </p:sp>
      <p:sp>
        <p:nvSpPr>
          <p:cNvPr id="9" name="Text 7"/>
          <p:cNvSpPr txBox="1"/>
          <p:nvPr/>
        </p:nvSpPr>
        <p:spPr>
          <a:xfrm>
            <a:off x="3646856" y="2066544"/>
            <a:ext cx="2110664" cy="237744"/>
          </a:xfrm>
          <a:prstGeom prst="rect">
            <a:avLst/>
          </a:prstGeom>
          <a:noFill/>
          <a:ln/>
        </p:spPr>
        <p:txBody>
          <a:bodyPr wrap="square" lIns="0" tIns="0" rIns="0" bIns="0" rtlCol="0" anchor="ctr"/>
          <a:lstStyle/>
          <a:p>
            <a:pPr indent="0" marL="0">
              <a:buNone/>
            </a:pPr>
            <a:r>
              <a:rPr lang="en-US" sz="950" b="1" spc="120" kern="0" dirty="0">
                <a:solidFill>
                  <a:srgbClr val="5E8B7E"/>
                </a:solidFill>
                <a:latin typeface="Calibri" pitchFamily="34" charset="0"/>
                <a:ea typeface="Calibri" pitchFamily="34" charset="-122"/>
                <a:cs typeface="Calibri" pitchFamily="34" charset="-120"/>
              </a:rPr>
              <a:t>PIT</a:t>
            </a:r>
            <a:endParaRPr lang="en-US" sz="950" dirty="0"/>
          </a:p>
        </p:txBody>
      </p:sp>
      <p:sp>
        <p:nvSpPr>
          <p:cNvPr id="10" name="Text 8"/>
          <p:cNvSpPr txBox="1"/>
          <p:nvPr/>
        </p:nvSpPr>
        <p:spPr>
          <a:xfrm>
            <a:off x="3646856" y="2322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Ford Foundation</a:t>
            </a:r>
            <a:endParaRPr lang="en-US" sz="1350" dirty="0"/>
          </a:p>
        </p:txBody>
      </p:sp>
      <p:sp>
        <p:nvSpPr>
          <p:cNvPr id="11" name="Shape 9"/>
          <p:cNvSpPr/>
          <p:nvPr/>
        </p:nvSpPr>
        <p:spPr>
          <a:xfrm>
            <a:off x="6214720" y="1920240"/>
            <a:ext cx="2549576" cy="960120"/>
          </a:xfrm>
          <a:prstGeom prst="roundRect">
            <a:avLst>
              <a:gd name="adj" fmla="val 6667"/>
            </a:avLst>
          </a:prstGeom>
          <a:solidFill>
            <a:srgbClr val="FFFFFF"/>
          </a:solidFill>
          <a:ln w="12700">
            <a:solidFill>
              <a:srgbClr val="E4DDD1"/>
            </a:solidFill>
            <a:prstDash val="solid"/>
          </a:ln>
        </p:spPr>
      </p:sp>
      <p:sp>
        <p:nvSpPr>
          <p:cNvPr id="12" name="Text 10"/>
          <p:cNvSpPr txBox="1"/>
          <p:nvPr/>
        </p:nvSpPr>
        <p:spPr>
          <a:xfrm>
            <a:off x="6434176" y="2066544"/>
            <a:ext cx="2110664" cy="237744"/>
          </a:xfrm>
          <a:prstGeom prst="rect">
            <a:avLst/>
          </a:prstGeom>
          <a:noFill/>
          <a:ln/>
        </p:spPr>
        <p:txBody>
          <a:bodyPr wrap="square" lIns="0" tIns="0" rIns="0" bIns="0" rtlCol="0" anchor="ctr"/>
          <a:lstStyle/>
          <a:p>
            <a:pPr indent="0" marL="0">
              <a:buNone/>
            </a:pPr>
            <a:r>
              <a:rPr lang="en-US" sz="950" b="1" spc="120" kern="0" dirty="0">
                <a:solidFill>
                  <a:srgbClr val="5E8B7E"/>
                </a:solidFill>
                <a:latin typeface="Calibri" pitchFamily="34" charset="0"/>
                <a:ea typeface="Calibri" pitchFamily="34" charset="-122"/>
                <a:cs typeface="Calibri" pitchFamily="34" charset="-120"/>
              </a:rPr>
              <a:t>CIVIC</a:t>
            </a:r>
            <a:endParaRPr lang="en-US" sz="950" dirty="0"/>
          </a:p>
        </p:txBody>
      </p:sp>
      <p:sp>
        <p:nvSpPr>
          <p:cNvPr id="13" name="Text 11"/>
          <p:cNvSpPr txBox="1"/>
          <p:nvPr/>
        </p:nvSpPr>
        <p:spPr>
          <a:xfrm>
            <a:off x="6434176" y="2322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Civic Tech Field Guide</a:t>
            </a:r>
            <a:endParaRPr lang="en-US" sz="1350" dirty="0"/>
          </a:p>
        </p:txBody>
      </p:sp>
      <p:sp>
        <p:nvSpPr>
          <p:cNvPr id="14" name="Shape 12"/>
          <p:cNvSpPr/>
          <p:nvPr/>
        </p:nvSpPr>
        <p:spPr>
          <a:xfrm>
            <a:off x="9002039" y="1920240"/>
            <a:ext cx="2549576" cy="960120"/>
          </a:xfrm>
          <a:prstGeom prst="roundRect">
            <a:avLst>
              <a:gd name="adj" fmla="val 6667"/>
            </a:avLst>
          </a:prstGeom>
          <a:solidFill>
            <a:srgbClr val="FFFFFF"/>
          </a:solidFill>
          <a:ln w="12700">
            <a:solidFill>
              <a:srgbClr val="E4DDD1"/>
            </a:solidFill>
            <a:prstDash val="solid"/>
          </a:ln>
        </p:spPr>
      </p:sp>
      <p:sp>
        <p:nvSpPr>
          <p:cNvPr id="15" name="Text 13"/>
          <p:cNvSpPr txBox="1"/>
          <p:nvPr/>
        </p:nvSpPr>
        <p:spPr>
          <a:xfrm>
            <a:off x="9221495" y="2066544"/>
            <a:ext cx="2110664" cy="237744"/>
          </a:xfrm>
          <a:prstGeom prst="rect">
            <a:avLst/>
          </a:prstGeom>
          <a:noFill/>
          <a:ln/>
        </p:spPr>
        <p:txBody>
          <a:bodyPr wrap="square" lIns="0" tIns="0" rIns="0" bIns="0" rtlCol="0" anchor="ctr"/>
          <a:lstStyle/>
          <a:p>
            <a:pPr indent="0" marL="0">
              <a:buNone/>
            </a:pPr>
            <a:r>
              <a:rPr lang="en-US" sz="950" b="1" spc="120" kern="0" dirty="0">
                <a:solidFill>
                  <a:srgbClr val="5E8B7E"/>
                </a:solidFill>
                <a:latin typeface="Calibri" pitchFamily="34" charset="0"/>
                <a:ea typeface="Calibri" pitchFamily="34" charset="-122"/>
                <a:cs typeface="Calibri" pitchFamily="34" charset="-120"/>
              </a:rPr>
              <a:t>CIVIC</a:t>
            </a:r>
            <a:endParaRPr lang="en-US" sz="950" dirty="0"/>
          </a:p>
        </p:txBody>
      </p:sp>
      <p:sp>
        <p:nvSpPr>
          <p:cNvPr id="16" name="Text 14"/>
          <p:cNvSpPr txBox="1"/>
          <p:nvPr/>
        </p:nvSpPr>
        <p:spPr>
          <a:xfrm>
            <a:off x="9221495" y="2322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Alliance of Civic Technologists</a:t>
            </a:r>
            <a:endParaRPr lang="en-US" sz="1350" dirty="0"/>
          </a:p>
        </p:txBody>
      </p:sp>
      <p:sp>
        <p:nvSpPr>
          <p:cNvPr id="17" name="Shape 15"/>
          <p:cNvSpPr/>
          <p:nvPr/>
        </p:nvSpPr>
        <p:spPr>
          <a:xfrm>
            <a:off x="640080" y="3063240"/>
            <a:ext cx="2549576" cy="960120"/>
          </a:xfrm>
          <a:prstGeom prst="roundRect">
            <a:avLst>
              <a:gd name="adj" fmla="val 6667"/>
            </a:avLst>
          </a:prstGeom>
          <a:solidFill>
            <a:srgbClr val="FFFFFF"/>
          </a:solidFill>
          <a:ln w="12700">
            <a:solidFill>
              <a:srgbClr val="E4DDD1"/>
            </a:solidFill>
            <a:prstDash val="solid"/>
          </a:ln>
        </p:spPr>
      </p:sp>
      <p:sp>
        <p:nvSpPr>
          <p:cNvPr id="18" name="Text 16"/>
          <p:cNvSpPr txBox="1"/>
          <p:nvPr/>
        </p:nvSpPr>
        <p:spPr>
          <a:xfrm>
            <a:off x="859536" y="3209544"/>
            <a:ext cx="2110664" cy="237744"/>
          </a:xfrm>
          <a:prstGeom prst="rect">
            <a:avLst/>
          </a:prstGeom>
          <a:noFill/>
          <a:ln/>
        </p:spPr>
        <p:txBody>
          <a:bodyPr wrap="square" lIns="0" tIns="0" rIns="0" bIns="0" rtlCol="0" anchor="ctr"/>
          <a:lstStyle/>
          <a:p>
            <a:pPr indent="0" marL="0">
              <a:buNone/>
            </a:pPr>
            <a:r>
              <a:rPr lang="en-US" sz="950" b="1" spc="120" kern="0" dirty="0">
                <a:solidFill>
                  <a:srgbClr val="5E8B7E"/>
                </a:solidFill>
                <a:latin typeface="Calibri" pitchFamily="34" charset="0"/>
                <a:ea typeface="Calibri" pitchFamily="34" charset="-122"/>
                <a:cs typeface="Calibri" pitchFamily="34" charset="-120"/>
              </a:rPr>
              <a:t>CIVIC</a:t>
            </a:r>
            <a:endParaRPr lang="en-US" sz="950" dirty="0"/>
          </a:p>
        </p:txBody>
      </p:sp>
      <p:sp>
        <p:nvSpPr>
          <p:cNvPr id="19" name="Text 17"/>
          <p:cNvSpPr txBox="1"/>
          <p:nvPr/>
        </p:nvSpPr>
        <p:spPr>
          <a:xfrm>
            <a:off x="859536" y="3465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Code for America (archived)</a:t>
            </a:r>
            <a:endParaRPr lang="en-US" sz="1350" dirty="0"/>
          </a:p>
        </p:txBody>
      </p:sp>
      <p:sp>
        <p:nvSpPr>
          <p:cNvPr id="20" name="Shape 18"/>
          <p:cNvSpPr/>
          <p:nvPr/>
        </p:nvSpPr>
        <p:spPr>
          <a:xfrm>
            <a:off x="3427400" y="3063240"/>
            <a:ext cx="2549576" cy="960120"/>
          </a:xfrm>
          <a:prstGeom prst="roundRect">
            <a:avLst>
              <a:gd name="adj" fmla="val 6667"/>
            </a:avLst>
          </a:prstGeom>
          <a:solidFill>
            <a:srgbClr val="FFFFFF"/>
          </a:solidFill>
          <a:ln w="12700">
            <a:solidFill>
              <a:srgbClr val="E4DDD1"/>
            </a:solidFill>
            <a:prstDash val="solid"/>
          </a:ln>
        </p:spPr>
      </p:sp>
      <p:sp>
        <p:nvSpPr>
          <p:cNvPr id="21" name="Text 19"/>
          <p:cNvSpPr txBox="1"/>
          <p:nvPr/>
        </p:nvSpPr>
        <p:spPr>
          <a:xfrm>
            <a:off x="3646856" y="3209544"/>
            <a:ext cx="2110664" cy="237744"/>
          </a:xfrm>
          <a:prstGeom prst="rect">
            <a:avLst/>
          </a:prstGeom>
          <a:noFill/>
          <a:ln/>
        </p:spPr>
        <p:txBody>
          <a:bodyPr wrap="square" lIns="0" tIns="0" rIns="0" bIns="0" rtlCol="0" anchor="ctr"/>
          <a:lstStyle/>
          <a:p>
            <a:pPr indent="0" marL="0">
              <a:buNone/>
            </a:pPr>
            <a:r>
              <a:rPr lang="en-US" sz="950" b="1" spc="120" kern="0" dirty="0">
                <a:solidFill>
                  <a:srgbClr val="B5563C"/>
                </a:solidFill>
                <a:latin typeface="Calibri" pitchFamily="34" charset="0"/>
                <a:ea typeface="Calibri" pitchFamily="34" charset="-122"/>
                <a:cs typeface="Calibri" pitchFamily="34" charset="-120"/>
              </a:rPr>
              <a:t>FOR GOOD</a:t>
            </a:r>
            <a:endParaRPr lang="en-US" sz="950" dirty="0"/>
          </a:p>
        </p:txBody>
      </p:sp>
      <p:sp>
        <p:nvSpPr>
          <p:cNvPr id="22" name="Text 20"/>
          <p:cNvSpPr txBox="1"/>
          <p:nvPr/>
        </p:nvSpPr>
        <p:spPr>
          <a:xfrm>
            <a:off x="3646856" y="3465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Fast Forward</a:t>
            </a:r>
            <a:endParaRPr lang="en-US" sz="1350" dirty="0"/>
          </a:p>
        </p:txBody>
      </p:sp>
      <p:sp>
        <p:nvSpPr>
          <p:cNvPr id="23" name="Shape 21"/>
          <p:cNvSpPr/>
          <p:nvPr/>
        </p:nvSpPr>
        <p:spPr>
          <a:xfrm>
            <a:off x="6214720" y="3063240"/>
            <a:ext cx="2549576" cy="960120"/>
          </a:xfrm>
          <a:prstGeom prst="roundRect">
            <a:avLst>
              <a:gd name="adj" fmla="val 6667"/>
            </a:avLst>
          </a:prstGeom>
          <a:solidFill>
            <a:srgbClr val="FFFFFF"/>
          </a:solidFill>
          <a:ln w="12700">
            <a:solidFill>
              <a:srgbClr val="E4DDD1"/>
            </a:solidFill>
            <a:prstDash val="solid"/>
          </a:ln>
        </p:spPr>
      </p:sp>
      <p:sp>
        <p:nvSpPr>
          <p:cNvPr id="24" name="Text 22"/>
          <p:cNvSpPr txBox="1"/>
          <p:nvPr/>
        </p:nvSpPr>
        <p:spPr>
          <a:xfrm>
            <a:off x="6434176" y="3209544"/>
            <a:ext cx="2110664" cy="237744"/>
          </a:xfrm>
          <a:prstGeom prst="rect">
            <a:avLst/>
          </a:prstGeom>
          <a:noFill/>
          <a:ln/>
        </p:spPr>
        <p:txBody>
          <a:bodyPr wrap="square" lIns="0" tIns="0" rIns="0" bIns="0" rtlCol="0" anchor="ctr"/>
          <a:lstStyle/>
          <a:p>
            <a:pPr indent="0" marL="0">
              <a:buNone/>
            </a:pPr>
            <a:r>
              <a:rPr lang="en-US" sz="950" b="1" spc="120" kern="0" dirty="0">
                <a:solidFill>
                  <a:srgbClr val="B5563C"/>
                </a:solidFill>
                <a:latin typeface="Calibri" pitchFamily="34" charset="0"/>
                <a:ea typeface="Calibri" pitchFamily="34" charset="-122"/>
                <a:cs typeface="Calibri" pitchFamily="34" charset="-120"/>
              </a:rPr>
              <a:t>FOR GOOD</a:t>
            </a:r>
            <a:endParaRPr lang="en-US" sz="950" dirty="0"/>
          </a:p>
        </p:txBody>
      </p:sp>
      <p:sp>
        <p:nvSpPr>
          <p:cNvPr id="25" name="Text 23"/>
          <p:cNvSpPr txBox="1"/>
          <p:nvPr/>
        </p:nvSpPr>
        <p:spPr>
          <a:xfrm>
            <a:off x="6434176" y="3465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McGovern Foundation</a:t>
            </a:r>
            <a:endParaRPr lang="en-US" sz="1350" dirty="0"/>
          </a:p>
        </p:txBody>
      </p:sp>
      <p:sp>
        <p:nvSpPr>
          <p:cNvPr id="26" name="Shape 24"/>
          <p:cNvSpPr/>
          <p:nvPr/>
        </p:nvSpPr>
        <p:spPr>
          <a:xfrm>
            <a:off x="9002039" y="3063240"/>
            <a:ext cx="2549576" cy="960120"/>
          </a:xfrm>
          <a:prstGeom prst="roundRect">
            <a:avLst>
              <a:gd name="adj" fmla="val 6667"/>
            </a:avLst>
          </a:prstGeom>
          <a:solidFill>
            <a:srgbClr val="FFFFFF"/>
          </a:solidFill>
          <a:ln w="12700">
            <a:solidFill>
              <a:srgbClr val="E4DDD1"/>
            </a:solidFill>
            <a:prstDash val="solid"/>
          </a:ln>
        </p:spPr>
      </p:sp>
      <p:sp>
        <p:nvSpPr>
          <p:cNvPr id="27" name="Text 25"/>
          <p:cNvSpPr txBox="1"/>
          <p:nvPr/>
        </p:nvSpPr>
        <p:spPr>
          <a:xfrm>
            <a:off x="9221495" y="3209544"/>
            <a:ext cx="2110664" cy="237744"/>
          </a:xfrm>
          <a:prstGeom prst="rect">
            <a:avLst/>
          </a:prstGeom>
          <a:noFill/>
          <a:ln/>
        </p:spPr>
        <p:txBody>
          <a:bodyPr wrap="square" lIns="0" tIns="0" rIns="0" bIns="0" rtlCol="0" anchor="ctr"/>
          <a:lstStyle/>
          <a:p>
            <a:pPr indent="0" marL="0">
              <a:buNone/>
            </a:pPr>
            <a:r>
              <a:rPr lang="en-US" sz="950" b="1" spc="120" kern="0" dirty="0">
                <a:solidFill>
                  <a:srgbClr val="B5563C"/>
                </a:solidFill>
                <a:latin typeface="Calibri" pitchFamily="34" charset="0"/>
                <a:ea typeface="Calibri" pitchFamily="34" charset="-122"/>
                <a:cs typeface="Calibri" pitchFamily="34" charset="-120"/>
              </a:rPr>
              <a:t>FOR GOOD</a:t>
            </a:r>
            <a:endParaRPr lang="en-US" sz="950" dirty="0"/>
          </a:p>
        </p:txBody>
      </p:sp>
      <p:sp>
        <p:nvSpPr>
          <p:cNvPr id="28" name="Text 26"/>
          <p:cNvSpPr txBox="1"/>
          <p:nvPr/>
        </p:nvSpPr>
        <p:spPr>
          <a:xfrm>
            <a:off x="9221495" y="3465576"/>
            <a:ext cx="2110664" cy="457200"/>
          </a:xfrm>
          <a:prstGeom prst="rect">
            <a:avLst/>
          </a:prstGeom>
          <a:noFill/>
          <a:ln/>
        </p:spPr>
        <p:txBody>
          <a:bodyPr wrap="square" lIns="0" tIns="0" rIns="0" bIns="0" rtlCol="0" anchor="ctr"/>
          <a:lstStyle/>
          <a:p>
            <a:pPr indent="0" marL="0">
              <a:lnSpc>
                <a:spcPts val="1700"/>
              </a:lnSpc>
              <a:buNone/>
            </a:pPr>
            <a:r>
              <a:rPr lang="en-US" sz="1350" b="1" dirty="0">
                <a:solidFill>
                  <a:srgbClr val="1B3330"/>
                </a:solidFill>
                <a:latin typeface="Georgia" pitchFamily="34" charset="0"/>
                <a:ea typeface="Georgia" pitchFamily="34" charset="-122"/>
                <a:cs typeface="Georgia" pitchFamily="34" charset="-120"/>
              </a:rPr>
              <a:t>Google.org (four cohorts)</a:t>
            </a:r>
            <a:endParaRPr lang="en-US" sz="1350" dirty="0"/>
          </a:p>
        </p:txBody>
      </p:sp>
      <p:sp>
        <p:nvSpPr>
          <p:cNvPr id="29" name="Shape 27"/>
          <p:cNvSpPr/>
          <p:nvPr/>
        </p:nvSpPr>
        <p:spPr>
          <a:xfrm>
            <a:off x="640080" y="4343400"/>
            <a:ext cx="10911535" cy="1371600"/>
          </a:xfrm>
          <a:prstGeom prst="roundRect">
            <a:avLst>
              <a:gd name="adj" fmla="val 4667"/>
            </a:avLst>
          </a:prstGeom>
          <a:solidFill>
            <a:srgbClr val="F0E9E1"/>
          </a:solidFill>
          <a:ln w="12700">
            <a:solidFill>
              <a:srgbClr val="E0D3C7"/>
            </a:solidFill>
            <a:prstDash val="solid"/>
          </a:ln>
        </p:spPr>
      </p:sp>
      <p:sp>
        <p:nvSpPr>
          <p:cNvPr id="30" name="Text 28"/>
          <p:cNvSpPr txBox="1"/>
          <p:nvPr/>
        </p:nvSpPr>
        <p:spPr>
          <a:xfrm>
            <a:off x="932688" y="4526280"/>
            <a:ext cx="10326319" cy="320040"/>
          </a:xfrm>
          <a:prstGeom prst="rect">
            <a:avLst/>
          </a:prstGeom>
          <a:noFill/>
          <a:ln/>
        </p:spPr>
        <p:txBody>
          <a:bodyPr wrap="square" lIns="0" tIns="0" rIns="0" bIns="0" rtlCol="0" anchor="ctr"/>
          <a:lstStyle/>
          <a:p>
            <a:pPr indent="0" marL="0">
              <a:buNone/>
            </a:pPr>
            <a:r>
              <a:rPr lang="en-US" sz="1550" b="1" dirty="0">
                <a:solidFill>
                  <a:srgbClr val="B5563C"/>
                </a:solidFill>
                <a:latin typeface="Georgia" pitchFamily="34" charset="0"/>
                <a:ea typeface="Georgia" pitchFamily="34" charset="-122"/>
                <a:cs typeface="Georgia" pitchFamily="34" charset="-120"/>
              </a:rPr>
              <a:t>Not all of these publish the same kind of list, and the difference matters.</a:t>
            </a:r>
            <a:endParaRPr lang="en-US" sz="1550" dirty="0"/>
          </a:p>
        </p:txBody>
      </p:sp>
      <p:sp>
        <p:nvSpPr>
          <p:cNvPr id="31" name="Text 29"/>
          <p:cNvSpPr txBox="1"/>
          <p:nvPr/>
        </p:nvSpPr>
        <p:spPr>
          <a:xfrm>
            <a:off x="932688" y="4864608"/>
            <a:ext cx="10326319" cy="777240"/>
          </a:xfrm>
          <a:prstGeom prst="rect">
            <a:avLst/>
          </a:prstGeom>
          <a:noFill/>
          <a:ln/>
        </p:spPr>
        <p:txBody>
          <a:bodyPr wrap="square" lIns="0" tIns="0" rIns="0" bIns="0" rtlCol="0" anchor="ctr"/>
          <a:lstStyle/>
          <a:p>
            <a:pPr indent="0" marL="0">
              <a:lnSpc>
                <a:spcPts val="1900"/>
              </a:lnSpc>
              <a:buNone/>
            </a:pPr>
            <a:r>
              <a:rPr lang="en-US" sz="1300" dirty="0">
                <a:solidFill>
                  <a:srgbClr val="1B3330"/>
                </a:solidFill>
                <a:latin typeface="Calibri" pitchFamily="34" charset="0"/>
                <a:ea typeface="Calibri" pitchFamily="34" charset="-122"/>
                <a:cs typeface="Calibri" pitchFamily="34" charset="-120"/>
              </a:rPr>
              <a:t>Some are membership rosters, where an organization chose to put itself on the list. Others are grants databases or accelerator cohorts, where a funder picked the organization. We record which kind each record came from, because “we chose to call ourselves this” and “somebody gave us money” are different facts and we don’t want to blur them together.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2 — Pull the rosters, merge duplicates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Shape 2"/>
          <p:cNvSpPr/>
          <p:nvPr/>
        </p:nvSpPr>
        <p:spPr>
          <a:xfrm>
            <a:off x="640080" y="1783080"/>
            <a:ext cx="5295748" cy="3657600"/>
          </a:xfrm>
          <a:prstGeom prst="roundRect">
            <a:avLst>
              <a:gd name="adj" fmla="val 1750"/>
            </a:avLst>
          </a:prstGeom>
          <a:solidFill>
            <a:srgbClr val="FFFFFF"/>
          </a:solidFill>
          <a:ln w="12700">
            <a:solidFill>
              <a:srgbClr val="E4DDD1"/>
            </a:solidFill>
            <a:prstDash val="solid"/>
          </a:ln>
        </p:spPr>
      </p:sp>
      <p:sp>
        <p:nvSpPr>
          <p:cNvPr id="5" name="Text 3"/>
          <p:cNvSpPr txBox="1"/>
          <p:nvPr/>
        </p:nvSpPr>
        <p:spPr>
          <a:xfrm>
            <a:off x="960120" y="2029968"/>
            <a:ext cx="4937760" cy="777240"/>
          </a:xfrm>
          <a:prstGeom prst="rect">
            <a:avLst/>
          </a:prstGeom>
          <a:noFill/>
          <a:ln/>
        </p:spPr>
        <p:txBody>
          <a:bodyPr wrap="square" lIns="0" tIns="0" rIns="0" bIns="0" rtlCol="0" anchor="ctr"/>
          <a:lstStyle/>
          <a:p>
            <a:pPr indent="0" marL="0">
              <a:lnSpc>
                <a:spcPts val="2500"/>
              </a:lnSpc>
              <a:buNone/>
            </a:pPr>
            <a:r>
              <a:rPr lang="en-US" sz="1900" b="1" dirty="0">
                <a:solidFill>
                  <a:srgbClr val="B5563C"/>
                </a:solidFill>
                <a:latin typeface="Georgia" pitchFamily="34" charset="0"/>
                <a:ea typeface="Georgia" pitchFamily="34" charset="-122"/>
                <a:cs typeface="Georgia" pitchFamily="34" charset="-120"/>
              </a:rPr>
              <a:t>We work from a frozen snapshot,</a:t>
            </a:r>
            <a:endParaRPr lang="en-US" sz="1900" dirty="0"/>
          </a:p>
          <a:p>
            <a:pPr indent="0" marL="0">
              <a:lnSpc>
                <a:spcPts val="2500"/>
              </a:lnSpc>
              <a:buNone/>
            </a:pPr>
            <a:r>
              <a:rPr lang="en-US" sz="1900" b="1" dirty="0">
                <a:solidFill>
                  <a:srgbClr val="B5563C"/>
                </a:solidFill>
                <a:latin typeface="Georgia" pitchFamily="34" charset="0"/>
                <a:ea typeface="Georgia" pitchFamily="34" charset="-122"/>
                <a:cs typeface="Georgia" pitchFamily="34" charset="-120"/>
              </a:rPr>
              <a:t>not the live sites.</a:t>
            </a:r>
            <a:endParaRPr lang="en-US" sz="1900" dirty="0"/>
          </a:p>
        </p:txBody>
      </p:sp>
      <p:sp>
        <p:nvSpPr>
          <p:cNvPr id="6" name="Text 4"/>
          <p:cNvSpPr txBox="1"/>
          <p:nvPr/>
        </p:nvSpPr>
        <p:spPr>
          <a:xfrm>
            <a:off x="960120" y="2926080"/>
            <a:ext cx="4937760" cy="2286000"/>
          </a:xfrm>
          <a:prstGeom prst="rect">
            <a:avLst/>
          </a:prstGeom>
          <a:noFill/>
          <a:ln/>
        </p:spPr>
        <p:txBody>
          <a:bodyPr wrap="square" lIns="0" tIns="0" rIns="0" bIns="0" rtlCol="0" anchor="ctr"/>
          <a:lstStyle/>
          <a:p>
            <a:pPr indent="0" marL="0">
              <a:lnSpc>
                <a:spcPts val="2100"/>
              </a:lnSpc>
              <a:buNone/>
            </a:pPr>
            <a:r>
              <a:rPr lang="en-US" sz="1400" dirty="0">
                <a:solidFill>
                  <a:srgbClr val="1B3330"/>
                </a:solidFill>
                <a:latin typeface="Calibri" pitchFamily="34" charset="0"/>
                <a:ea typeface="Calibri" pitchFamily="34" charset="-122"/>
                <a:cs typeface="Calibri" pitchFamily="34" charset="-120"/>
              </a:rPr>
              <a:t>Every list is captured on one fixed date, and that date is chosen before anyone looks at what’s inside any of them.</a:t>
            </a:r>
            <a:endParaRPr lang="en-US" sz="1400" dirty="0"/>
          </a:p>
          <a:p>
            <a:pPr indent="0" marL="0">
              <a:lnSpc>
                <a:spcPts val="2100"/>
              </a:lnSpc>
              <a:buNone/>
            </a:pPr>
            <a:endParaRPr lang="en-US" sz="1400" dirty="0"/>
          </a:p>
          <a:p>
            <a:pPr indent="0" marL="0">
              <a:lnSpc>
                <a:spcPts val="2100"/>
              </a:lnSpc>
              <a:buNone/>
            </a:pPr>
            <a:r>
              <a:rPr lang="en-US" sz="1400" dirty="0">
                <a:solidFill>
                  <a:srgbClr val="1B3330"/>
                </a:solidFill>
                <a:latin typeface="Calibri" pitchFamily="34" charset="0"/>
                <a:ea typeface="Calibri" pitchFamily="34" charset="-122"/>
                <a:cs typeface="Calibri" pitchFamily="34" charset="-120"/>
              </a:rPr>
              <a:t>From then on, the snapshot is the list. If you notice a new member on a live site while you’re working, don’t add it — the pool is fixed.</a:t>
            </a:r>
            <a:endParaRPr lang="en-US" sz="1400" dirty="0"/>
          </a:p>
        </p:txBody>
      </p:sp>
      <p:sp>
        <p:nvSpPr>
          <p:cNvPr id="7" name="Shape 5"/>
          <p:cNvSpPr/>
          <p:nvPr/>
        </p:nvSpPr>
        <p:spPr>
          <a:xfrm>
            <a:off x="6255868" y="1783080"/>
            <a:ext cx="5295748" cy="3657600"/>
          </a:xfrm>
          <a:prstGeom prst="roundRect">
            <a:avLst>
              <a:gd name="adj" fmla="val 1750"/>
            </a:avLst>
          </a:prstGeom>
          <a:solidFill>
            <a:srgbClr val="FFFFFF"/>
          </a:solidFill>
          <a:ln w="12700">
            <a:solidFill>
              <a:srgbClr val="E4DDD1"/>
            </a:solidFill>
            <a:prstDash val="solid"/>
          </a:ln>
        </p:spPr>
      </p:sp>
      <p:sp>
        <p:nvSpPr>
          <p:cNvPr id="8" name="Text 6"/>
          <p:cNvSpPr txBox="1"/>
          <p:nvPr/>
        </p:nvSpPr>
        <p:spPr>
          <a:xfrm>
            <a:off x="6575908" y="2029968"/>
            <a:ext cx="4937760" cy="777240"/>
          </a:xfrm>
          <a:prstGeom prst="rect">
            <a:avLst/>
          </a:prstGeom>
          <a:noFill/>
          <a:ln/>
        </p:spPr>
        <p:txBody>
          <a:bodyPr wrap="square" lIns="0" tIns="0" rIns="0" bIns="0" rtlCol="0" anchor="ctr"/>
          <a:lstStyle/>
          <a:p>
            <a:pPr indent="0" marL="0">
              <a:lnSpc>
                <a:spcPts val="2500"/>
              </a:lnSpc>
              <a:buNone/>
            </a:pPr>
            <a:r>
              <a:rPr lang="en-US" sz="1900" b="1" dirty="0">
                <a:solidFill>
                  <a:srgbClr val="5E8B7E"/>
                </a:solidFill>
                <a:latin typeface="Georgia" pitchFamily="34" charset="0"/>
                <a:ea typeface="Georgia" pitchFamily="34" charset="-122"/>
                <a:cs typeface="Georgia" pitchFamily="34" charset="-120"/>
              </a:rPr>
              <a:t>Merging must preserve</a:t>
            </a:r>
            <a:endParaRPr lang="en-US" sz="1900" dirty="0"/>
          </a:p>
          <a:p>
            <a:pPr indent="0" marL="0">
              <a:lnSpc>
                <a:spcPts val="2500"/>
              </a:lnSpc>
              <a:buNone/>
            </a:pPr>
            <a:r>
              <a:rPr lang="en-US" sz="1900" b="1" dirty="0">
                <a:solidFill>
                  <a:srgbClr val="5E8B7E"/>
                </a:solidFill>
                <a:latin typeface="Georgia" pitchFamily="34" charset="0"/>
                <a:ea typeface="Georgia" pitchFamily="34" charset="-122"/>
                <a:cs typeface="Georgia" pitchFamily="34" charset="-120"/>
              </a:rPr>
              <a:t>every frame.</a:t>
            </a:r>
            <a:endParaRPr lang="en-US" sz="1900" dirty="0"/>
          </a:p>
        </p:txBody>
      </p:sp>
      <p:sp>
        <p:nvSpPr>
          <p:cNvPr id="9" name="Text 7"/>
          <p:cNvSpPr txBox="1"/>
          <p:nvPr/>
        </p:nvSpPr>
        <p:spPr>
          <a:xfrm>
            <a:off x="6575908" y="2926080"/>
            <a:ext cx="4937760" cy="2286000"/>
          </a:xfrm>
          <a:prstGeom prst="rect">
            <a:avLst/>
          </a:prstGeom>
          <a:noFill/>
          <a:ln/>
        </p:spPr>
        <p:txBody>
          <a:bodyPr wrap="square" lIns="0" tIns="0" rIns="0" bIns="0" rtlCol="0" anchor="ctr"/>
          <a:lstStyle/>
          <a:p>
            <a:pPr indent="0" marL="0">
              <a:lnSpc>
                <a:spcPts val="2100"/>
              </a:lnSpc>
              <a:buNone/>
            </a:pPr>
            <a:r>
              <a:rPr lang="en-US" sz="1400" dirty="0">
                <a:solidFill>
                  <a:srgbClr val="1B3330"/>
                </a:solidFill>
                <a:latin typeface="Calibri" pitchFamily="34" charset="0"/>
                <a:ea typeface="Calibri" pitchFamily="34" charset="-122"/>
                <a:cs typeface="Calibri" pitchFamily="34" charset="-120"/>
              </a:rPr>
              <a:t>One organization can fall under more than one umbrella, so we merge duplicated rows rather than deleting them.</a:t>
            </a:r>
            <a:endParaRPr lang="en-US" sz="1400" dirty="0"/>
          </a:p>
          <a:p>
            <a:pPr indent="0" marL="0">
              <a:lnSpc>
                <a:spcPts val="2100"/>
              </a:lnSpc>
              <a:buNone/>
            </a:pPr>
            <a:endParaRPr lang="en-US" sz="1400" dirty="0"/>
          </a:p>
          <a:p>
            <a:pPr indent="0" marL="0">
              <a:lnSpc>
                <a:spcPts val="2100"/>
              </a:lnSpc>
              <a:buNone/>
            </a:pPr>
            <a:r>
              <a:rPr lang="en-US" sz="1400" dirty="0">
                <a:solidFill>
                  <a:srgbClr val="1B3330"/>
                </a:solidFill>
                <a:latin typeface="Calibri" pitchFamily="34" charset="0"/>
                <a:ea typeface="Calibri" pitchFamily="34" charset="-122"/>
                <a:cs typeface="Calibri" pitchFamily="34" charset="-120"/>
              </a:rPr>
              <a:t>An organization claimed by both Ford and the Field Guide is one of the most interesting records we have, and that’s only visible if we keep both frames on it.</a:t>
            </a:r>
            <a:endParaRPr lang="en-US" sz="1400" dirty="0"/>
          </a:p>
        </p:txBody>
      </p:sp>
      <p:sp>
        <p:nvSpPr>
          <p:cNvPr id="10" name="Text 8"/>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6B7A75"/>
                </a:solidFill>
                <a:latin typeface="Calibri" pitchFamily="34" charset="0"/>
                <a:ea typeface="Calibri" pitchFamily="34" charset="-122"/>
                <a:cs typeface="Calibri" pitchFamily="34" charset="-120"/>
              </a:rPr>
              <a:t>The field is called originating_frame and it takes multiple values.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3 — The two cheap screening criteria</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We have five screening questions. We do the two easy ones now, on everything, and save the three hard ones for later.</a:t>
            </a:r>
            <a:endParaRPr lang="en-US" sz="1450" dirty="0"/>
          </a:p>
        </p:txBody>
      </p:sp>
      <p:sp>
        <p:nvSpPr>
          <p:cNvPr id="5" name="Shape 3"/>
          <p:cNvSpPr/>
          <p:nvPr/>
        </p:nvSpPr>
        <p:spPr>
          <a:xfrm>
            <a:off x="640080" y="1920240"/>
            <a:ext cx="10911535" cy="1143000"/>
          </a:xfrm>
          <a:prstGeom prst="roundRect">
            <a:avLst>
              <a:gd name="adj" fmla="val 5600"/>
            </a:avLst>
          </a:prstGeom>
          <a:solidFill>
            <a:srgbClr val="FFFFFF"/>
          </a:solidFill>
          <a:ln w="12700">
            <a:solidFill>
              <a:srgbClr val="E4DDD1"/>
            </a:solidFill>
            <a:prstDash val="solid"/>
          </a:ln>
        </p:spPr>
      </p:sp>
      <p:sp>
        <p:nvSpPr>
          <p:cNvPr id="6" name="Text 4"/>
          <p:cNvSpPr txBox="1"/>
          <p:nvPr/>
        </p:nvSpPr>
        <p:spPr>
          <a:xfrm>
            <a:off x="960120" y="2212848"/>
            <a:ext cx="457200" cy="502920"/>
          </a:xfrm>
          <a:prstGeom prst="rect">
            <a:avLst/>
          </a:prstGeom>
          <a:noFill/>
          <a:ln/>
        </p:spPr>
        <p:txBody>
          <a:bodyPr wrap="square" lIns="0" tIns="0" rIns="0" bIns="0" rtlCol="0" anchor="ctr"/>
          <a:lstStyle/>
          <a:p>
            <a:pPr indent="0" marL="0">
              <a:buNone/>
            </a:pPr>
            <a:r>
              <a:rPr lang="en-US" sz="2600" b="1" dirty="0">
                <a:solidFill>
                  <a:srgbClr val="5E8B7E"/>
                </a:solidFill>
                <a:latin typeface="Georgia" pitchFamily="34" charset="0"/>
                <a:ea typeface="Georgia" pitchFamily="34" charset="-122"/>
                <a:cs typeface="Georgia" pitchFamily="34" charset="-120"/>
              </a:rPr>
              <a:t>1</a:t>
            </a:r>
            <a:endParaRPr lang="en-US" sz="2600" dirty="0"/>
          </a:p>
        </p:txBody>
      </p:sp>
      <p:sp>
        <p:nvSpPr>
          <p:cNvPr id="7" name="Text 5"/>
          <p:cNvSpPr txBox="1"/>
          <p:nvPr/>
        </p:nvSpPr>
        <p:spPr>
          <a:xfrm>
            <a:off x="1554480" y="2139696"/>
            <a:ext cx="9509760" cy="457200"/>
          </a:xfrm>
          <a:prstGeom prst="rect">
            <a:avLst/>
          </a:prstGeom>
          <a:noFill/>
          <a:ln/>
        </p:spPr>
        <p:txBody>
          <a:bodyPr wrap="square" lIns="0" tIns="0" rIns="0" bIns="0" rtlCol="0" anchor="ctr"/>
          <a:lstStyle/>
          <a:p>
            <a:pPr indent="0" marL="0">
              <a:buNone/>
            </a:pPr>
            <a:r>
              <a:rPr lang="en-US" sz="1500" dirty="0">
                <a:solidFill>
                  <a:srgbClr val="1B3330"/>
                </a:solidFill>
                <a:latin typeface="Calibri" pitchFamily="34" charset="0"/>
                <a:ea typeface="Calibri" pitchFamily="34" charset="-122"/>
                <a:cs typeface="Calibri" pitchFamily="34" charset="-120"/>
              </a:rPr>
              <a:t>Does the organization have its own name, its own web presence, and evidence of staffing or governance?</a:t>
            </a:r>
            <a:endParaRPr lang="en-US" sz="1500" dirty="0"/>
          </a:p>
        </p:txBody>
      </p:sp>
      <p:sp>
        <p:nvSpPr>
          <p:cNvPr id="8" name="Text 6"/>
          <p:cNvSpPr txBox="1"/>
          <p:nvPr/>
        </p:nvSpPr>
        <p:spPr>
          <a:xfrm>
            <a:off x="1554480" y="2578608"/>
            <a:ext cx="9509760" cy="320040"/>
          </a:xfrm>
          <a:prstGeom prst="rect">
            <a:avLst/>
          </a:prstGeom>
          <a:noFill/>
          <a:ln/>
        </p:spPr>
        <p:txBody>
          <a:bodyPr wrap="square" lIns="0" tIns="0" rIns="0" bIns="0" rtlCol="0" anchor="ctr"/>
          <a:lstStyle/>
          <a:p>
            <a:pPr indent="0" marL="0">
              <a:buNone/>
            </a:pPr>
            <a:r>
              <a:rPr lang="en-US" sz="1300" i="1" dirty="0">
                <a:solidFill>
                  <a:srgbClr val="6B7A75"/>
                </a:solidFill>
                <a:latin typeface="Calibri" pitchFamily="34" charset="0"/>
                <a:ea typeface="Calibri" pitchFamily="34" charset="-122"/>
                <a:cs typeface="Calibri" pitchFamily="34" charset="-120"/>
              </a:rPr>
              <a:t>If not, remove it and don’t consider criterion 2.</a:t>
            </a:r>
            <a:endParaRPr lang="en-US" sz="1300" dirty="0"/>
          </a:p>
        </p:txBody>
      </p:sp>
      <p:sp>
        <p:nvSpPr>
          <p:cNvPr id="9" name="Shape 7"/>
          <p:cNvSpPr/>
          <p:nvPr/>
        </p:nvSpPr>
        <p:spPr>
          <a:xfrm>
            <a:off x="640080" y="3246120"/>
            <a:ext cx="10911535" cy="960120"/>
          </a:xfrm>
          <a:prstGeom prst="roundRect">
            <a:avLst>
              <a:gd name="adj" fmla="val 6667"/>
            </a:avLst>
          </a:prstGeom>
          <a:solidFill>
            <a:srgbClr val="FFFFFF"/>
          </a:solidFill>
          <a:ln w="12700">
            <a:solidFill>
              <a:srgbClr val="E4DDD1"/>
            </a:solidFill>
            <a:prstDash val="solid"/>
          </a:ln>
        </p:spPr>
      </p:sp>
      <p:sp>
        <p:nvSpPr>
          <p:cNvPr id="10" name="Text 8"/>
          <p:cNvSpPr txBox="1"/>
          <p:nvPr/>
        </p:nvSpPr>
        <p:spPr>
          <a:xfrm>
            <a:off x="960120" y="3456432"/>
            <a:ext cx="457200" cy="502920"/>
          </a:xfrm>
          <a:prstGeom prst="rect">
            <a:avLst/>
          </a:prstGeom>
          <a:noFill/>
          <a:ln/>
        </p:spPr>
        <p:txBody>
          <a:bodyPr wrap="square" lIns="0" tIns="0" rIns="0" bIns="0" rtlCol="0" anchor="ctr"/>
          <a:lstStyle/>
          <a:p>
            <a:pPr indent="0" marL="0">
              <a:buNone/>
            </a:pPr>
            <a:r>
              <a:rPr lang="en-US" sz="2600" b="1" dirty="0">
                <a:solidFill>
                  <a:srgbClr val="5E8B7E"/>
                </a:solidFill>
                <a:latin typeface="Georgia" pitchFamily="34" charset="0"/>
                <a:ea typeface="Georgia" pitchFamily="34" charset="-122"/>
                <a:cs typeface="Georgia" pitchFamily="34" charset="-120"/>
              </a:rPr>
              <a:t>2</a:t>
            </a:r>
            <a:endParaRPr lang="en-US" sz="2600" dirty="0"/>
          </a:p>
        </p:txBody>
      </p:sp>
      <p:sp>
        <p:nvSpPr>
          <p:cNvPr id="11" name="Text 9"/>
          <p:cNvSpPr txBox="1"/>
          <p:nvPr/>
        </p:nvSpPr>
        <p:spPr>
          <a:xfrm>
            <a:off x="1554480" y="3520440"/>
            <a:ext cx="9509760" cy="457200"/>
          </a:xfrm>
          <a:prstGeom prst="rect">
            <a:avLst/>
          </a:prstGeom>
          <a:noFill/>
          <a:ln/>
        </p:spPr>
        <p:txBody>
          <a:bodyPr wrap="square" lIns="0" tIns="0" rIns="0" bIns="0" rtlCol="0" anchor="ctr"/>
          <a:lstStyle/>
          <a:p>
            <a:pPr indent="0" marL="0">
              <a:buNone/>
            </a:pPr>
            <a:r>
              <a:rPr lang="en-US" sz="1500" dirty="0">
                <a:solidFill>
                  <a:srgbClr val="1B3330"/>
                </a:solidFill>
                <a:latin typeface="Calibri" pitchFamily="34" charset="0"/>
                <a:ea typeface="Calibri" pitchFamily="34" charset="-122"/>
                <a:cs typeface="Calibri" pitchFamily="34" charset="-120"/>
              </a:rPr>
              <a:t>Is the organization based in the US (headquarters or principal operations)?</a:t>
            </a:r>
            <a:endParaRPr lang="en-US" sz="1500" dirty="0"/>
          </a:p>
        </p:txBody>
      </p:sp>
      <p:sp>
        <p:nvSpPr>
          <p:cNvPr id="12" name="Shape 10"/>
          <p:cNvSpPr/>
          <p:nvPr/>
        </p:nvSpPr>
        <p:spPr>
          <a:xfrm>
            <a:off x="640080" y="4434840"/>
            <a:ext cx="10911535" cy="1371600"/>
          </a:xfrm>
          <a:prstGeom prst="roundRect">
            <a:avLst>
              <a:gd name="adj" fmla="val 4667"/>
            </a:avLst>
          </a:prstGeom>
          <a:solidFill>
            <a:srgbClr val="1B3330"/>
          </a:solidFill>
          <a:ln w="12700">
            <a:solidFill>
              <a:srgbClr val="1B3330"/>
            </a:solidFill>
            <a:prstDash val="solid"/>
          </a:ln>
        </p:spPr>
      </p:sp>
      <p:sp>
        <p:nvSpPr>
          <p:cNvPr id="13" name="Text 11"/>
          <p:cNvSpPr txBox="1"/>
          <p:nvPr/>
        </p:nvSpPr>
        <p:spPr>
          <a:xfrm>
            <a:off x="960120" y="4645152"/>
            <a:ext cx="10271455" cy="365760"/>
          </a:xfrm>
          <a:prstGeom prst="rect">
            <a:avLst/>
          </a:prstGeom>
          <a:noFill/>
          <a:ln/>
        </p:spPr>
        <p:txBody>
          <a:bodyPr wrap="square" lIns="0" tIns="0" rIns="0" bIns="0" rtlCol="0" anchor="ctr"/>
          <a:lstStyle/>
          <a:p>
            <a:pPr indent="0" marL="0">
              <a:buNone/>
            </a:pPr>
            <a:r>
              <a:rPr lang="en-US" sz="1500" dirty="0">
                <a:solidFill>
                  <a:srgbClr val="D8D2C6"/>
                </a:solidFill>
                <a:latin typeface="Calibri" pitchFamily="34" charset="0"/>
                <a:ea typeface="Calibri" pitchFamily="34" charset="-122"/>
                <a:cs typeface="Calibri" pitchFamily="34" charset="-120"/>
              </a:rPr>
              <a:t>AI does the first scan, proposes answers, and provides citations.</a:t>
            </a:r>
            <a:endParaRPr lang="en-US" sz="1500" dirty="0"/>
          </a:p>
        </p:txBody>
      </p:sp>
      <p:sp>
        <p:nvSpPr>
          <p:cNvPr id="14" name="Text 12"/>
          <p:cNvSpPr txBox="1"/>
          <p:nvPr/>
        </p:nvSpPr>
        <p:spPr>
          <a:xfrm>
            <a:off x="960120" y="5074920"/>
            <a:ext cx="10271455" cy="457200"/>
          </a:xfrm>
          <a:prstGeom prst="rect">
            <a:avLst/>
          </a:prstGeom>
          <a:noFill/>
          <a:ln/>
        </p:spPr>
        <p:txBody>
          <a:bodyPr wrap="square" lIns="0" tIns="0" rIns="0" bIns="0" rtlCol="0" anchor="ctr"/>
          <a:lstStyle/>
          <a:p>
            <a:pPr indent="0" marL="0">
              <a:buNone/>
            </a:pPr>
            <a:r>
              <a:rPr lang="en-US" sz="1900" b="1" dirty="0">
                <a:solidFill>
                  <a:srgbClr val="B5563C"/>
                </a:solidFill>
                <a:latin typeface="Georgia" pitchFamily="34" charset="0"/>
                <a:ea typeface="Georgia" pitchFamily="34" charset="-122"/>
                <a:cs typeface="Georgia" pitchFamily="34" charset="-120"/>
              </a:rPr>
              <a:t>No proposal can be accepted without the organization’s website being opened.</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A note on what these lists actually contain</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Some frames list institutions rather than organizations. PIT-UN lists universities. Ford lists grants.</a:t>
            </a:r>
            <a:endParaRPr lang="en-US" sz="1450" dirty="0"/>
          </a:p>
        </p:txBody>
      </p:sp>
      <p:sp>
        <p:nvSpPr>
          <p:cNvPr id="5" name="Shape 3"/>
          <p:cNvSpPr/>
          <p:nvPr/>
        </p:nvSpPr>
        <p:spPr>
          <a:xfrm>
            <a:off x="640080" y="1965960"/>
            <a:ext cx="10911535" cy="1234440"/>
          </a:xfrm>
          <a:prstGeom prst="roundRect">
            <a:avLst>
              <a:gd name="adj" fmla="val 5185"/>
            </a:avLst>
          </a:prstGeom>
          <a:solidFill>
            <a:srgbClr val="FFFFFF"/>
          </a:solidFill>
          <a:ln w="12700">
            <a:solidFill>
              <a:srgbClr val="E4DDD1"/>
            </a:solidFill>
            <a:prstDash val="solid"/>
          </a:ln>
        </p:spPr>
      </p:sp>
      <p:sp>
        <p:nvSpPr>
          <p:cNvPr id="6" name="Text 4"/>
          <p:cNvSpPr txBox="1"/>
          <p:nvPr/>
        </p:nvSpPr>
        <p:spPr>
          <a:xfrm>
            <a:off x="960120" y="2148840"/>
            <a:ext cx="9875520" cy="365760"/>
          </a:xfrm>
          <a:prstGeom prst="rect">
            <a:avLst/>
          </a:prstGeom>
          <a:noFill/>
          <a:ln/>
        </p:spPr>
        <p:txBody>
          <a:bodyPr wrap="square" lIns="0" tIns="0" rIns="0" bIns="0" rtlCol="0" anchor="ctr"/>
          <a:lstStyle/>
          <a:p>
            <a:pPr indent="0" marL="0">
              <a:buNone/>
            </a:pPr>
            <a:r>
              <a:rPr lang="en-US" sz="1600" b="1" dirty="0">
                <a:solidFill>
                  <a:srgbClr val="5E8B7E"/>
                </a:solidFill>
                <a:latin typeface="Georgia" pitchFamily="34" charset="0"/>
                <a:ea typeface="Georgia" pitchFamily="34" charset="-122"/>
                <a:cs typeface="Georgia" pitchFamily="34" charset="-120"/>
              </a:rPr>
              <a:t>Resolve to the named unit</a:t>
            </a:r>
            <a:endParaRPr lang="en-US" sz="1600" dirty="0"/>
          </a:p>
        </p:txBody>
      </p:sp>
      <p:sp>
        <p:nvSpPr>
          <p:cNvPr id="7" name="Text 5"/>
          <p:cNvSpPr txBox="1"/>
          <p:nvPr/>
        </p:nvSpPr>
        <p:spPr>
          <a:xfrm>
            <a:off x="960120" y="2532888"/>
            <a:ext cx="10241280" cy="548640"/>
          </a:xfrm>
          <a:prstGeom prst="rect">
            <a:avLst/>
          </a:prstGeom>
          <a:noFill/>
          <a:ln/>
        </p:spPr>
        <p:txBody>
          <a:bodyPr wrap="square" lIns="0" tIns="0" rIns="0" bIns="0" rtlCol="0" anchor="ctr"/>
          <a:lstStyle/>
          <a:p>
            <a:pPr indent="0" marL="0">
              <a:lnSpc>
                <a:spcPts val="1900"/>
              </a:lnSpc>
              <a:buNone/>
            </a:pPr>
            <a:r>
              <a:rPr lang="en-US" sz="1350" dirty="0">
                <a:solidFill>
                  <a:srgbClr val="1B3330"/>
                </a:solidFill>
                <a:latin typeface="Calibri" pitchFamily="34" charset="0"/>
                <a:ea typeface="Calibri" pitchFamily="34" charset="-122"/>
                <a:cs typeface="Calibri" pitchFamily="34" charset="-120"/>
              </a:rPr>
              <a:t>Resolve the record to whichever unit the frame itself names — a center, a program, a project, a designated representative’s stated affiliation. That unit is the record. The parent university or agency does not enter the sample.</a:t>
            </a:r>
            <a:endParaRPr lang="en-US" sz="1350" dirty="0"/>
          </a:p>
        </p:txBody>
      </p:sp>
      <p:sp>
        <p:nvSpPr>
          <p:cNvPr id="8" name="Shape 6"/>
          <p:cNvSpPr/>
          <p:nvPr/>
        </p:nvSpPr>
        <p:spPr>
          <a:xfrm>
            <a:off x="640080" y="3383280"/>
            <a:ext cx="10911535" cy="822960"/>
          </a:xfrm>
          <a:prstGeom prst="roundRect">
            <a:avLst>
              <a:gd name="adj" fmla="val 7778"/>
            </a:avLst>
          </a:prstGeom>
          <a:solidFill>
            <a:srgbClr val="FFFFFF"/>
          </a:solidFill>
          <a:ln w="12700">
            <a:solidFill>
              <a:srgbClr val="E4DDD1"/>
            </a:solidFill>
            <a:prstDash val="solid"/>
          </a:ln>
        </p:spPr>
      </p:sp>
      <p:sp>
        <p:nvSpPr>
          <p:cNvPr id="9" name="Text 7"/>
          <p:cNvSpPr txBox="1"/>
          <p:nvPr/>
        </p:nvSpPr>
        <p:spPr>
          <a:xfrm>
            <a:off x="960120" y="3566160"/>
            <a:ext cx="9875520" cy="365760"/>
          </a:xfrm>
          <a:prstGeom prst="rect">
            <a:avLst/>
          </a:prstGeom>
          <a:noFill/>
          <a:ln/>
        </p:spPr>
        <p:txBody>
          <a:bodyPr wrap="square" lIns="0" tIns="0" rIns="0" bIns="0" rtlCol="0" anchor="ctr"/>
          <a:lstStyle/>
          <a:p>
            <a:pPr indent="0" marL="0">
              <a:buNone/>
            </a:pPr>
            <a:r>
              <a:rPr lang="en-US" sz="1600" b="1" dirty="0">
                <a:solidFill>
                  <a:srgbClr val="5E8B7E"/>
                </a:solidFill>
                <a:latin typeface="Georgia" pitchFamily="34" charset="0"/>
                <a:ea typeface="Georgia" pitchFamily="34" charset="-122"/>
                <a:cs typeface="Georgia" pitchFamily="34" charset="-120"/>
              </a:rPr>
              <a:t>If no unit is named, log it</a:t>
            </a:r>
            <a:endParaRPr lang="en-US" sz="1600" dirty="0"/>
          </a:p>
        </p:txBody>
      </p:sp>
      <p:sp>
        <p:nvSpPr>
          <p:cNvPr id="10" name="Text 8"/>
          <p:cNvSpPr txBox="1"/>
          <p:nvPr/>
        </p:nvSpPr>
        <p:spPr>
          <a:xfrm>
            <a:off x="960120" y="3950208"/>
            <a:ext cx="10241280" cy="137160"/>
          </a:xfrm>
          <a:prstGeom prst="rect">
            <a:avLst/>
          </a:prstGeom>
          <a:noFill/>
          <a:ln/>
        </p:spPr>
        <p:txBody>
          <a:bodyPr wrap="square" lIns="0" tIns="0" rIns="0" bIns="0" rtlCol="0" anchor="ctr"/>
          <a:lstStyle/>
          <a:p>
            <a:pPr indent="0" marL="0">
              <a:lnSpc>
                <a:spcPts val="1900"/>
              </a:lnSpc>
              <a:buNone/>
            </a:pPr>
            <a:r>
              <a:rPr lang="en-US" sz="1350" dirty="0">
                <a:solidFill>
                  <a:srgbClr val="1B3330"/>
                </a:solidFill>
                <a:latin typeface="Calibri" pitchFamily="34" charset="0"/>
                <a:ea typeface="Calibri" pitchFamily="34" charset="-122"/>
                <a:cs typeface="Calibri" pitchFamily="34" charset="-120"/>
              </a:rPr>
              <a:t>Log it as unit_unresolved and move on.</a:t>
            </a:r>
            <a:endParaRPr lang="en-US" sz="1350" dirty="0"/>
          </a:p>
        </p:txBody>
      </p:sp>
      <p:sp>
        <p:nvSpPr>
          <p:cNvPr id="11" name="Shape 9"/>
          <p:cNvSpPr/>
          <p:nvPr/>
        </p:nvSpPr>
        <p:spPr>
          <a:xfrm>
            <a:off x="640080" y="4389120"/>
            <a:ext cx="10911535" cy="914400"/>
          </a:xfrm>
          <a:prstGeom prst="roundRect">
            <a:avLst>
              <a:gd name="adj" fmla="val 7000"/>
            </a:avLst>
          </a:prstGeom>
          <a:solidFill>
            <a:srgbClr val="FFFFFF"/>
          </a:solidFill>
          <a:ln w="12700">
            <a:solidFill>
              <a:srgbClr val="E4DDD1"/>
            </a:solidFill>
            <a:prstDash val="solid"/>
          </a:ln>
        </p:spPr>
      </p:sp>
      <p:sp>
        <p:nvSpPr>
          <p:cNvPr id="12" name="Text 10"/>
          <p:cNvSpPr txBox="1"/>
          <p:nvPr/>
        </p:nvSpPr>
        <p:spPr>
          <a:xfrm>
            <a:off x="960120" y="4572000"/>
            <a:ext cx="9875520" cy="365760"/>
          </a:xfrm>
          <a:prstGeom prst="rect">
            <a:avLst/>
          </a:prstGeom>
          <a:noFill/>
          <a:ln/>
        </p:spPr>
        <p:txBody>
          <a:bodyPr wrap="square" lIns="0" tIns="0" rIns="0" bIns="0" rtlCol="0" anchor="ctr"/>
          <a:lstStyle/>
          <a:p>
            <a:pPr indent="0" marL="0">
              <a:buNone/>
            </a:pPr>
            <a:r>
              <a:rPr lang="en-US" sz="1600" b="1" dirty="0">
                <a:solidFill>
                  <a:srgbClr val="B5563C"/>
                </a:solidFill>
                <a:latin typeface="Georgia" pitchFamily="34" charset="0"/>
                <a:ea typeface="Georgia" pitchFamily="34" charset="-122"/>
                <a:cs typeface="Georgia" pitchFamily="34" charset="-120"/>
              </a:rPr>
              <a:t>If you know of one the frame doesn’t name — do not add it</a:t>
            </a:r>
            <a:endParaRPr lang="en-US" sz="1600" dirty="0"/>
          </a:p>
        </p:txBody>
      </p:sp>
      <p:sp>
        <p:nvSpPr>
          <p:cNvPr id="13" name="Text 11"/>
          <p:cNvSpPr txBox="1"/>
          <p:nvPr/>
        </p:nvSpPr>
        <p:spPr>
          <a:xfrm>
            <a:off x="960120" y="4956048"/>
            <a:ext cx="10241280" cy="228600"/>
          </a:xfrm>
          <a:prstGeom prst="rect">
            <a:avLst/>
          </a:prstGeom>
          <a:noFill/>
          <a:ln/>
        </p:spPr>
        <p:txBody>
          <a:bodyPr wrap="square" lIns="0" tIns="0" rIns="0" bIns="0" rtlCol="0" anchor="ctr"/>
          <a:lstStyle/>
          <a:p>
            <a:pPr indent="0" marL="0">
              <a:lnSpc>
                <a:spcPts val="1900"/>
              </a:lnSpc>
              <a:buNone/>
            </a:pPr>
            <a:r>
              <a:rPr lang="en-US" sz="1350" dirty="0">
                <a:solidFill>
                  <a:srgbClr val="1B3330"/>
                </a:solidFill>
                <a:latin typeface="Calibri" pitchFamily="34" charset="0"/>
                <a:ea typeface="Calibri" pitchFamily="34" charset="-122"/>
                <a:cs typeface="Calibri" pitchFamily="34" charset="-120"/>
              </a:rPr>
              <a:t>Log it as unit_known_not_surfaced and move on.</a:t>
            </a:r>
            <a:endParaRPr lang="en-US" sz="1350" dirty="0"/>
          </a:p>
        </p:txBody>
      </p:sp>
      <p:sp>
        <p:nvSpPr>
          <p:cNvPr id="14" name="Shape 12"/>
          <p:cNvSpPr/>
          <p:nvPr/>
        </p:nvSpPr>
        <p:spPr>
          <a:xfrm>
            <a:off x="640080" y="5468112"/>
            <a:ext cx="10911535" cy="841248"/>
          </a:xfrm>
          <a:prstGeom prst="roundRect">
            <a:avLst>
              <a:gd name="adj" fmla="val 7609"/>
            </a:avLst>
          </a:prstGeom>
          <a:solidFill>
            <a:srgbClr val="F0E9E1"/>
          </a:solidFill>
          <a:ln w="12700">
            <a:solidFill>
              <a:srgbClr val="E0D3C7"/>
            </a:solidFill>
            <a:prstDash val="solid"/>
          </a:ln>
        </p:spPr>
      </p:sp>
      <p:sp>
        <p:nvSpPr>
          <p:cNvPr id="15" name="Text 13"/>
          <p:cNvSpPr txBox="1"/>
          <p:nvPr/>
        </p:nvSpPr>
        <p:spPr>
          <a:xfrm>
            <a:off x="932688" y="5605272"/>
            <a:ext cx="3108960" cy="292608"/>
          </a:xfrm>
          <a:prstGeom prst="rect">
            <a:avLst/>
          </a:prstGeom>
          <a:noFill/>
          <a:ln/>
        </p:spPr>
        <p:txBody>
          <a:bodyPr wrap="square" lIns="0" tIns="0" rIns="0" bIns="0" rtlCol="0" anchor="ctr"/>
          <a:lstStyle/>
          <a:p>
            <a:pPr indent="0" marL="0">
              <a:buNone/>
            </a:pPr>
            <a:r>
              <a:rPr lang="en-US" sz="1350" b="1" dirty="0">
                <a:solidFill>
                  <a:srgbClr val="B5563C"/>
                </a:solidFill>
                <a:latin typeface="Georgia" pitchFamily="34" charset="0"/>
                <a:ea typeface="Georgia" pitchFamily="34" charset="-122"/>
                <a:cs typeface="Georgia" pitchFamily="34" charset="-120"/>
              </a:rPr>
              <a:t>This one feels wrong, so here’s why:</a:t>
            </a:r>
            <a:endParaRPr lang="en-US" sz="1350" dirty="0"/>
          </a:p>
        </p:txBody>
      </p:sp>
      <p:sp>
        <p:nvSpPr>
          <p:cNvPr id="16" name="Text 14"/>
          <p:cNvSpPr txBox="1"/>
          <p:nvPr/>
        </p:nvSpPr>
        <p:spPr>
          <a:xfrm>
            <a:off x="4160520" y="5586984"/>
            <a:ext cx="7071055" cy="59436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if we add organizations we happen to know about, the boundary of our sample depends on which of us was assigned the record and what we each happened to have heard of. Logging it turns invisible under-coverage into a number we can report.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4 — Run the lexicon script</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A Python script checks whether a small lexicon of terms appears on each organization’s page.</a:t>
            </a:r>
            <a:endParaRPr lang="en-US" sz="1450" dirty="0"/>
          </a:p>
        </p:txBody>
      </p:sp>
      <p:sp>
        <p:nvSpPr>
          <p:cNvPr id="5" name="Shape 3"/>
          <p:cNvSpPr/>
          <p:nvPr/>
        </p:nvSpPr>
        <p:spPr>
          <a:xfrm>
            <a:off x="640080" y="1828800"/>
            <a:ext cx="3466490" cy="1417320"/>
          </a:xfrm>
          <a:prstGeom prst="roundRect">
            <a:avLst>
              <a:gd name="adj" fmla="val 4516"/>
            </a:avLst>
          </a:prstGeom>
          <a:solidFill>
            <a:srgbClr val="FFFFFF"/>
          </a:solidFill>
          <a:ln w="12700">
            <a:solidFill>
              <a:srgbClr val="E4DDD1"/>
            </a:solidFill>
            <a:prstDash val="solid"/>
          </a:ln>
        </p:spPr>
      </p:sp>
      <p:sp>
        <p:nvSpPr>
          <p:cNvPr id="6" name="Text 4"/>
          <p:cNvSpPr txBox="1"/>
          <p:nvPr/>
        </p:nvSpPr>
        <p:spPr>
          <a:xfrm>
            <a:off x="877824" y="2011680"/>
            <a:ext cx="2991002" cy="384048"/>
          </a:xfrm>
          <a:prstGeom prst="rect">
            <a:avLst/>
          </a:prstGeom>
          <a:noFill/>
          <a:ln/>
        </p:spPr>
        <p:txBody>
          <a:bodyPr wrap="square" lIns="0" tIns="0" rIns="0" bIns="0" rtlCol="0" anchor="ctr"/>
          <a:lstStyle/>
          <a:p>
            <a:pPr indent="0" marL="0">
              <a:buNone/>
            </a:pPr>
            <a:r>
              <a:rPr lang="en-US" sz="1700" b="1" dirty="0">
                <a:solidFill>
                  <a:srgbClr val="5E8B7E"/>
                </a:solidFill>
                <a:latin typeface="Georgia" pitchFamily="34" charset="0"/>
                <a:ea typeface="Georgia" pitchFamily="34" charset="-122"/>
                <a:cs typeface="Georgia" pitchFamily="34" charset="-120"/>
              </a:rPr>
              <a:t>TRUE</a:t>
            </a:r>
            <a:endParaRPr lang="en-US" sz="1700" dirty="0"/>
          </a:p>
        </p:txBody>
      </p:sp>
      <p:sp>
        <p:nvSpPr>
          <p:cNvPr id="7" name="Text 5"/>
          <p:cNvSpPr txBox="1"/>
          <p:nvPr/>
        </p:nvSpPr>
        <p:spPr>
          <a:xfrm>
            <a:off x="877824" y="2432304"/>
            <a:ext cx="2991002" cy="68580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A lexicon term was found.</a:t>
            </a:r>
            <a:endParaRPr lang="en-US" sz="1250" dirty="0"/>
          </a:p>
        </p:txBody>
      </p:sp>
      <p:sp>
        <p:nvSpPr>
          <p:cNvPr id="8" name="Shape 6"/>
          <p:cNvSpPr/>
          <p:nvPr/>
        </p:nvSpPr>
        <p:spPr>
          <a:xfrm>
            <a:off x="4362602" y="1828800"/>
            <a:ext cx="3466490" cy="1417320"/>
          </a:xfrm>
          <a:prstGeom prst="roundRect">
            <a:avLst>
              <a:gd name="adj" fmla="val 4516"/>
            </a:avLst>
          </a:prstGeom>
          <a:solidFill>
            <a:srgbClr val="FFFFFF"/>
          </a:solidFill>
          <a:ln w="12700">
            <a:solidFill>
              <a:srgbClr val="E4DDD1"/>
            </a:solidFill>
            <a:prstDash val="solid"/>
          </a:ln>
        </p:spPr>
      </p:sp>
      <p:sp>
        <p:nvSpPr>
          <p:cNvPr id="9" name="Text 7"/>
          <p:cNvSpPr txBox="1"/>
          <p:nvPr/>
        </p:nvSpPr>
        <p:spPr>
          <a:xfrm>
            <a:off x="4600346" y="2011680"/>
            <a:ext cx="2991002" cy="384048"/>
          </a:xfrm>
          <a:prstGeom prst="rect">
            <a:avLst/>
          </a:prstGeom>
          <a:noFill/>
          <a:ln/>
        </p:spPr>
        <p:txBody>
          <a:bodyPr wrap="square" lIns="0" tIns="0" rIns="0" bIns="0" rtlCol="0" anchor="ctr"/>
          <a:lstStyle/>
          <a:p>
            <a:pPr indent="0" marL="0">
              <a:buNone/>
            </a:pPr>
            <a:r>
              <a:rPr lang="en-US" sz="1700" b="1" dirty="0">
                <a:solidFill>
                  <a:srgbClr val="6B7A75"/>
                </a:solidFill>
                <a:latin typeface="Georgia" pitchFamily="34" charset="0"/>
                <a:ea typeface="Georgia" pitchFamily="34" charset="-122"/>
                <a:cs typeface="Georgia" pitchFamily="34" charset="-120"/>
              </a:rPr>
              <a:t>FALSE</a:t>
            </a:r>
            <a:endParaRPr lang="en-US" sz="1700" dirty="0"/>
          </a:p>
        </p:txBody>
      </p:sp>
      <p:sp>
        <p:nvSpPr>
          <p:cNvPr id="10" name="Text 8"/>
          <p:cNvSpPr txBox="1"/>
          <p:nvPr/>
        </p:nvSpPr>
        <p:spPr>
          <a:xfrm>
            <a:off x="4600346" y="2432304"/>
            <a:ext cx="2991002" cy="68580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The page was read and no terms were found.</a:t>
            </a:r>
            <a:endParaRPr lang="en-US" sz="1250" dirty="0"/>
          </a:p>
        </p:txBody>
      </p:sp>
      <p:sp>
        <p:nvSpPr>
          <p:cNvPr id="11" name="Shape 9"/>
          <p:cNvSpPr/>
          <p:nvPr/>
        </p:nvSpPr>
        <p:spPr>
          <a:xfrm>
            <a:off x="8085125" y="1828800"/>
            <a:ext cx="3466490" cy="1417320"/>
          </a:xfrm>
          <a:prstGeom prst="roundRect">
            <a:avLst>
              <a:gd name="adj" fmla="val 4516"/>
            </a:avLst>
          </a:prstGeom>
          <a:solidFill>
            <a:srgbClr val="FFFFFF"/>
          </a:solidFill>
          <a:ln w="12700">
            <a:solidFill>
              <a:srgbClr val="E4DDD1"/>
            </a:solidFill>
            <a:prstDash val="solid"/>
          </a:ln>
        </p:spPr>
      </p:sp>
      <p:sp>
        <p:nvSpPr>
          <p:cNvPr id="12" name="Text 10"/>
          <p:cNvSpPr txBox="1"/>
          <p:nvPr/>
        </p:nvSpPr>
        <p:spPr>
          <a:xfrm>
            <a:off x="8322869" y="2011680"/>
            <a:ext cx="2991002" cy="384048"/>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UNDETERMINED</a:t>
            </a:r>
            <a:endParaRPr lang="en-US" sz="1700" dirty="0"/>
          </a:p>
        </p:txBody>
      </p:sp>
      <p:sp>
        <p:nvSpPr>
          <p:cNvPr id="13" name="Text 11"/>
          <p:cNvSpPr txBox="1"/>
          <p:nvPr/>
        </p:nvSpPr>
        <p:spPr>
          <a:xfrm>
            <a:off x="8322869" y="2432304"/>
            <a:ext cx="2991002" cy="68580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The page couldn’t be scraped. Go look at the website yourself.</a:t>
            </a:r>
            <a:endParaRPr lang="en-US" sz="1250" dirty="0"/>
          </a:p>
        </p:txBody>
      </p:sp>
      <p:sp>
        <p:nvSpPr>
          <p:cNvPr id="14" name="Text 12"/>
          <p:cNvSpPr txBox="1"/>
          <p:nvPr/>
        </p:nvSpPr>
        <p:spPr>
          <a:xfrm>
            <a:off x="640080" y="3456432"/>
            <a:ext cx="10911535" cy="365760"/>
          </a:xfrm>
          <a:prstGeom prst="rect">
            <a:avLst/>
          </a:prstGeom>
          <a:noFill/>
          <a:ln/>
        </p:spPr>
        <p:txBody>
          <a:bodyPr wrap="square"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UNDETERMINED is not FALSE.</a:t>
            </a:r>
            <a:endParaRPr lang="en-US" sz="1700" dirty="0"/>
          </a:p>
        </p:txBody>
      </p:sp>
      <p:sp>
        <p:nvSpPr>
          <p:cNvPr id="15" name="Text 13"/>
          <p:cNvSpPr txBox="1"/>
          <p:nvPr/>
        </p:nvSpPr>
        <p:spPr>
          <a:xfrm>
            <a:off x="640080" y="3803904"/>
            <a:ext cx="10911535" cy="365760"/>
          </a:xfrm>
          <a:prstGeom prst="rect">
            <a:avLst/>
          </a:prstGeom>
          <a:noFill/>
          <a:ln/>
        </p:spPr>
        <p:txBody>
          <a:bodyPr wrap="square" rtlCol="0" anchor="ctr"/>
          <a:lstStyle/>
          <a:p>
            <a:pPr indent="0" marL="0">
              <a:buNone/>
            </a:pPr>
            <a:r>
              <a:rPr lang="en-US" sz="1400" dirty="0">
                <a:solidFill>
                  <a:srgbClr val="1B3330"/>
                </a:solidFill>
                <a:latin typeface="Calibri" pitchFamily="34" charset="0"/>
                <a:ea typeface="Calibri" pitchFamily="34" charset="-122"/>
                <a:cs typeface="Calibri" pitchFamily="34" charset="-120"/>
              </a:rPr>
              <a:t>A page that failed to load hasn’t told us anything about the organization’s vocabulary.</a:t>
            </a:r>
            <a:endParaRPr lang="en-US" sz="1400" dirty="0"/>
          </a:p>
        </p:txBody>
      </p:sp>
      <p:sp>
        <p:nvSpPr>
          <p:cNvPr id="16" name="Shape 14"/>
          <p:cNvSpPr/>
          <p:nvPr/>
        </p:nvSpPr>
        <p:spPr>
          <a:xfrm>
            <a:off x="640080" y="4343400"/>
            <a:ext cx="10911535" cy="1600200"/>
          </a:xfrm>
          <a:prstGeom prst="roundRect">
            <a:avLst>
              <a:gd name="adj" fmla="val 4000"/>
            </a:avLst>
          </a:prstGeom>
          <a:solidFill>
            <a:srgbClr val="1B3330"/>
          </a:solidFill>
          <a:ln w="12700">
            <a:solidFill>
              <a:srgbClr val="1B3330"/>
            </a:solidFill>
            <a:prstDash val="solid"/>
          </a:ln>
        </p:spPr>
      </p:sp>
      <p:sp>
        <p:nvSpPr>
          <p:cNvPr id="17" name="Text 15"/>
          <p:cNvSpPr txBox="1"/>
          <p:nvPr/>
        </p:nvSpPr>
        <p:spPr>
          <a:xfrm>
            <a:off x="960120" y="4526280"/>
            <a:ext cx="10058400" cy="365760"/>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What’s the point of doing this?</a:t>
            </a:r>
            <a:endParaRPr lang="en-US" sz="1700" dirty="0"/>
          </a:p>
        </p:txBody>
      </p:sp>
      <p:sp>
        <p:nvSpPr>
          <p:cNvPr id="18" name="Text 16"/>
          <p:cNvSpPr txBox="1"/>
          <p:nvPr/>
        </p:nvSpPr>
        <p:spPr>
          <a:xfrm>
            <a:off x="960120" y="4937760"/>
            <a:ext cx="10271455" cy="914400"/>
          </a:xfrm>
          <a:prstGeom prst="rect">
            <a:avLst/>
          </a:prstGeom>
          <a:noFill/>
          <a:ln/>
        </p:spPr>
        <p:txBody>
          <a:bodyPr wrap="square" lIns="0" tIns="0" rIns="0" bIns="0" rtlCol="0" anchor="ctr"/>
          <a:lstStyle/>
          <a:p>
            <a:pPr indent="0" marL="0">
              <a:lnSpc>
                <a:spcPts val="2000"/>
              </a:lnSpc>
              <a:buNone/>
            </a:pPr>
            <a:r>
              <a:rPr lang="en-US" sz="1350" dirty="0">
                <a:solidFill>
                  <a:srgbClr val="D8D2C6"/>
                </a:solidFill>
                <a:latin typeface="Calibri" pitchFamily="34" charset="0"/>
                <a:ea typeface="Calibri" pitchFamily="34" charset="-122"/>
                <a:cs typeface="Calibri" pitchFamily="34" charset="-120"/>
              </a:rPr>
              <a:t>Not to find out what organizations call themselves — that comes later, when you read the page and record their exact words. This is a sorting device. If we didn’t sort on this, we could easily code sixty organizations that all describe themselves as civic tech, hit our stopping rule, and never reach the ones that describe the same work some other way.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5 — Build the sixteen buckets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Eight frames, crossed with TRUE and FALSE from the lexicon search.</a:t>
            </a:r>
            <a:endParaRPr lang="en-US" sz="1450" dirty="0"/>
          </a:p>
        </p:txBody>
      </p:sp>
      <p:sp>
        <p:nvSpPr>
          <p:cNvPr id="5" name="Shape 3"/>
          <p:cNvSpPr/>
          <p:nvPr/>
        </p:nvSpPr>
        <p:spPr>
          <a:xfrm>
            <a:off x="640080" y="1874520"/>
            <a:ext cx="6675120" cy="3840480"/>
          </a:xfrm>
          <a:prstGeom prst="roundRect">
            <a:avLst>
              <a:gd name="adj" fmla="val 1667"/>
            </a:avLst>
          </a:prstGeom>
          <a:solidFill>
            <a:srgbClr val="FFFFFF"/>
          </a:solidFill>
          <a:ln w="12700">
            <a:solidFill>
              <a:srgbClr val="E4DDD1"/>
            </a:solidFill>
            <a:prstDash val="solid"/>
          </a:ln>
        </p:spPr>
      </p:sp>
      <p:sp>
        <p:nvSpPr>
          <p:cNvPr id="6" name="Text 4"/>
          <p:cNvSpPr txBox="1"/>
          <p:nvPr/>
        </p:nvSpPr>
        <p:spPr>
          <a:xfrm>
            <a:off x="1097280" y="2377440"/>
            <a:ext cx="1097280" cy="914400"/>
          </a:xfrm>
          <a:prstGeom prst="rect">
            <a:avLst/>
          </a:prstGeom>
          <a:noFill/>
          <a:ln/>
        </p:spPr>
        <p:txBody>
          <a:bodyPr wrap="square" lIns="0" tIns="0" rIns="0" bIns="0" rtlCol="0" anchor="ctr"/>
          <a:lstStyle/>
          <a:p>
            <a:pPr algn="ctr" indent="0" marL="0">
              <a:buNone/>
            </a:pPr>
            <a:r>
              <a:rPr lang="en-US" sz="5200" b="1" dirty="0">
                <a:solidFill>
                  <a:srgbClr val="5E8B7E"/>
                </a:solidFill>
                <a:latin typeface="Georgia" pitchFamily="34" charset="0"/>
                <a:ea typeface="Georgia" pitchFamily="34" charset="-122"/>
                <a:cs typeface="Georgia" pitchFamily="34" charset="-120"/>
              </a:rPr>
              <a:t>8</a:t>
            </a:r>
            <a:endParaRPr lang="en-US" sz="5200" dirty="0"/>
          </a:p>
        </p:txBody>
      </p:sp>
      <p:sp>
        <p:nvSpPr>
          <p:cNvPr id="7" name="Text 5"/>
          <p:cNvSpPr txBox="1"/>
          <p:nvPr/>
        </p:nvSpPr>
        <p:spPr>
          <a:xfrm>
            <a:off x="1097280" y="3291840"/>
            <a:ext cx="1097280" cy="274320"/>
          </a:xfrm>
          <a:prstGeom prst="rect">
            <a:avLst/>
          </a:prstGeom>
          <a:noFill/>
          <a:ln/>
        </p:spPr>
        <p:txBody>
          <a:bodyPr wrap="square" lIns="0" tIns="0" rIns="0" bIns="0" rtlCol="0" anchor="ctr"/>
          <a:lstStyle/>
          <a:p>
            <a:pPr algn="ctr" indent="0" marL="0">
              <a:buNone/>
            </a:pPr>
            <a:r>
              <a:rPr lang="en-US" sz="1200" dirty="0">
                <a:solidFill>
                  <a:srgbClr val="6B7A75"/>
                </a:solidFill>
                <a:latin typeface="Calibri" pitchFamily="34" charset="0"/>
                <a:ea typeface="Calibri" pitchFamily="34" charset="-122"/>
                <a:cs typeface="Calibri" pitchFamily="34" charset="-120"/>
              </a:rPr>
              <a:t>frames</a:t>
            </a:r>
            <a:endParaRPr lang="en-US" sz="1200" dirty="0"/>
          </a:p>
        </p:txBody>
      </p:sp>
      <p:sp>
        <p:nvSpPr>
          <p:cNvPr id="8" name="Text 6"/>
          <p:cNvSpPr txBox="1"/>
          <p:nvPr/>
        </p:nvSpPr>
        <p:spPr>
          <a:xfrm>
            <a:off x="2331720" y="2606040"/>
            <a:ext cx="548640" cy="548640"/>
          </a:xfrm>
          <a:prstGeom prst="rect">
            <a:avLst/>
          </a:prstGeom>
          <a:noFill/>
          <a:ln/>
        </p:spPr>
        <p:txBody>
          <a:bodyPr wrap="square" lIns="0" tIns="0" rIns="0" bIns="0" rtlCol="0" anchor="ctr"/>
          <a:lstStyle/>
          <a:p>
            <a:pPr algn="ctr" indent="0" marL="0">
              <a:buNone/>
            </a:pPr>
            <a:r>
              <a:rPr lang="en-US" sz="2600" dirty="0">
                <a:solidFill>
                  <a:srgbClr val="D8D2C6"/>
                </a:solidFill>
                <a:latin typeface="Georgia" pitchFamily="34" charset="0"/>
                <a:ea typeface="Georgia" pitchFamily="34" charset="-122"/>
                <a:cs typeface="Georgia" pitchFamily="34" charset="-120"/>
              </a:rPr>
              <a:t>×</a:t>
            </a:r>
            <a:endParaRPr lang="en-US" sz="2600" dirty="0"/>
          </a:p>
        </p:txBody>
      </p:sp>
      <p:sp>
        <p:nvSpPr>
          <p:cNvPr id="9" name="Text 7"/>
          <p:cNvSpPr txBox="1"/>
          <p:nvPr/>
        </p:nvSpPr>
        <p:spPr>
          <a:xfrm>
            <a:off x="2926080" y="2377440"/>
            <a:ext cx="1097280" cy="914400"/>
          </a:xfrm>
          <a:prstGeom prst="rect">
            <a:avLst/>
          </a:prstGeom>
          <a:noFill/>
          <a:ln/>
        </p:spPr>
        <p:txBody>
          <a:bodyPr wrap="square" lIns="0" tIns="0" rIns="0" bIns="0" rtlCol="0" anchor="ctr"/>
          <a:lstStyle/>
          <a:p>
            <a:pPr algn="ctr" indent="0" marL="0">
              <a:buNone/>
            </a:pPr>
            <a:r>
              <a:rPr lang="en-US" sz="5200" b="1" dirty="0">
                <a:solidFill>
                  <a:srgbClr val="5E8B7E"/>
                </a:solidFill>
                <a:latin typeface="Georgia" pitchFamily="34" charset="0"/>
                <a:ea typeface="Georgia" pitchFamily="34" charset="-122"/>
                <a:cs typeface="Georgia" pitchFamily="34" charset="-120"/>
              </a:rPr>
              <a:t>2</a:t>
            </a:r>
            <a:endParaRPr lang="en-US" sz="5200" dirty="0"/>
          </a:p>
        </p:txBody>
      </p:sp>
      <p:sp>
        <p:nvSpPr>
          <p:cNvPr id="10" name="Text 8"/>
          <p:cNvSpPr txBox="1"/>
          <p:nvPr/>
        </p:nvSpPr>
        <p:spPr>
          <a:xfrm>
            <a:off x="2788920" y="3291840"/>
            <a:ext cx="1371600" cy="274320"/>
          </a:xfrm>
          <a:prstGeom prst="rect">
            <a:avLst/>
          </a:prstGeom>
          <a:noFill/>
          <a:ln/>
        </p:spPr>
        <p:txBody>
          <a:bodyPr wrap="square" lIns="0" tIns="0" rIns="0" bIns="0" rtlCol="0" anchor="ctr"/>
          <a:lstStyle/>
          <a:p>
            <a:pPr algn="ctr" indent="0" marL="0">
              <a:buNone/>
            </a:pPr>
            <a:r>
              <a:rPr lang="en-US" sz="1200" dirty="0">
                <a:solidFill>
                  <a:srgbClr val="6B7A75"/>
                </a:solidFill>
                <a:latin typeface="Calibri" pitchFamily="34" charset="0"/>
                <a:ea typeface="Calibri" pitchFamily="34" charset="-122"/>
                <a:cs typeface="Calibri" pitchFamily="34" charset="-120"/>
              </a:rPr>
              <a:t>proxy values</a:t>
            </a:r>
            <a:endParaRPr lang="en-US" sz="1200" dirty="0"/>
          </a:p>
        </p:txBody>
      </p:sp>
      <p:sp>
        <p:nvSpPr>
          <p:cNvPr id="11" name="Text 9"/>
          <p:cNvSpPr txBox="1"/>
          <p:nvPr/>
        </p:nvSpPr>
        <p:spPr>
          <a:xfrm>
            <a:off x="4251960" y="2606040"/>
            <a:ext cx="548640" cy="548640"/>
          </a:xfrm>
          <a:prstGeom prst="rect">
            <a:avLst/>
          </a:prstGeom>
          <a:noFill/>
          <a:ln/>
        </p:spPr>
        <p:txBody>
          <a:bodyPr wrap="square" lIns="0" tIns="0" rIns="0" bIns="0" rtlCol="0" anchor="ctr"/>
          <a:lstStyle/>
          <a:p>
            <a:pPr algn="ctr" indent="0" marL="0">
              <a:buNone/>
            </a:pPr>
            <a:r>
              <a:rPr lang="en-US" sz="2600" dirty="0">
                <a:solidFill>
                  <a:srgbClr val="D8D2C6"/>
                </a:solidFill>
                <a:latin typeface="Georgia" pitchFamily="34" charset="0"/>
                <a:ea typeface="Georgia" pitchFamily="34" charset="-122"/>
                <a:cs typeface="Georgia" pitchFamily="34" charset="-120"/>
              </a:rPr>
              <a:t>=</a:t>
            </a:r>
            <a:endParaRPr lang="en-US" sz="2600" dirty="0"/>
          </a:p>
        </p:txBody>
      </p:sp>
      <p:sp>
        <p:nvSpPr>
          <p:cNvPr id="12" name="Text 10"/>
          <p:cNvSpPr txBox="1"/>
          <p:nvPr/>
        </p:nvSpPr>
        <p:spPr>
          <a:xfrm>
            <a:off x="4846320" y="2377440"/>
            <a:ext cx="1645920" cy="914400"/>
          </a:xfrm>
          <a:prstGeom prst="rect">
            <a:avLst/>
          </a:prstGeom>
          <a:noFill/>
          <a:ln/>
        </p:spPr>
        <p:txBody>
          <a:bodyPr wrap="square" lIns="0" tIns="0" rIns="0" bIns="0" rtlCol="0" anchor="ctr"/>
          <a:lstStyle/>
          <a:p>
            <a:pPr algn="ctr" indent="0" marL="0">
              <a:buNone/>
            </a:pPr>
            <a:r>
              <a:rPr lang="en-US" sz="5200" b="1" dirty="0">
                <a:solidFill>
                  <a:srgbClr val="B5563C"/>
                </a:solidFill>
                <a:latin typeface="Georgia" pitchFamily="34" charset="0"/>
                <a:ea typeface="Georgia" pitchFamily="34" charset="-122"/>
                <a:cs typeface="Georgia" pitchFamily="34" charset="-120"/>
              </a:rPr>
              <a:t>16</a:t>
            </a:r>
            <a:endParaRPr lang="en-US" sz="5200" dirty="0"/>
          </a:p>
        </p:txBody>
      </p:sp>
      <p:sp>
        <p:nvSpPr>
          <p:cNvPr id="13" name="Text 11"/>
          <p:cNvSpPr txBox="1"/>
          <p:nvPr/>
        </p:nvSpPr>
        <p:spPr>
          <a:xfrm>
            <a:off x="4846320" y="3291840"/>
            <a:ext cx="1645920" cy="274320"/>
          </a:xfrm>
          <a:prstGeom prst="rect">
            <a:avLst/>
          </a:prstGeom>
          <a:noFill/>
          <a:ln/>
        </p:spPr>
        <p:txBody>
          <a:bodyPr wrap="square" lIns="0" tIns="0" rIns="0" bIns="0" rtlCol="0" anchor="ctr"/>
          <a:lstStyle/>
          <a:p>
            <a:pPr algn="ctr" indent="0" marL="0">
              <a:buNone/>
            </a:pPr>
            <a:r>
              <a:rPr lang="en-US" sz="1200" dirty="0">
                <a:solidFill>
                  <a:srgbClr val="6B7A75"/>
                </a:solidFill>
                <a:latin typeface="Calibri" pitchFamily="34" charset="0"/>
                <a:ea typeface="Calibri" pitchFamily="34" charset="-122"/>
                <a:cs typeface="Calibri" pitchFamily="34" charset="-120"/>
              </a:rPr>
              <a:t>buckets</a:t>
            </a:r>
            <a:endParaRPr lang="en-US" sz="1200" dirty="0"/>
          </a:p>
        </p:txBody>
      </p:sp>
      <p:sp>
        <p:nvSpPr>
          <p:cNvPr id="14" name="Text 12"/>
          <p:cNvSpPr txBox="1"/>
          <p:nvPr/>
        </p:nvSpPr>
        <p:spPr>
          <a:xfrm>
            <a:off x="1097280" y="3886200"/>
            <a:ext cx="5852160" cy="777240"/>
          </a:xfrm>
          <a:prstGeom prst="rect">
            <a:avLst/>
          </a:prstGeom>
          <a:noFill/>
          <a:ln/>
        </p:spPr>
        <p:txBody>
          <a:bodyPr wrap="square" lIns="0" tIns="0" rIns="0" bIns="0" rtlCol="0" anchor="ctr"/>
          <a:lstStyle/>
          <a:p>
            <a:pPr indent="0" marL="0">
              <a:lnSpc>
                <a:spcPts val="2000"/>
              </a:lnSpc>
              <a:buNone/>
            </a:pPr>
            <a:r>
              <a:rPr lang="en-US" sz="1350" dirty="0">
                <a:solidFill>
                  <a:srgbClr val="1B3330"/>
                </a:solidFill>
                <a:latin typeface="Calibri" pitchFamily="34" charset="0"/>
                <a:ea typeface="Calibri" pitchFamily="34" charset="-122"/>
                <a:cs typeface="Calibri" pitchFamily="34" charset="-120"/>
              </a:rPr>
              <a:t>We randomize the order in which organizations within each bucket are drawn, using a recorded seed.</a:t>
            </a:r>
            <a:endParaRPr lang="en-US" sz="1350" dirty="0"/>
          </a:p>
        </p:txBody>
      </p:sp>
      <p:sp>
        <p:nvSpPr>
          <p:cNvPr id="15" name="Shape 13"/>
          <p:cNvSpPr/>
          <p:nvPr/>
        </p:nvSpPr>
        <p:spPr>
          <a:xfrm>
            <a:off x="7680960" y="1874520"/>
            <a:ext cx="3870655" cy="3840480"/>
          </a:xfrm>
          <a:prstGeom prst="roundRect">
            <a:avLst>
              <a:gd name="adj" fmla="val 1667"/>
            </a:avLst>
          </a:prstGeom>
          <a:solidFill>
            <a:srgbClr val="1B3330"/>
          </a:solidFill>
          <a:ln w="12700">
            <a:solidFill>
              <a:srgbClr val="1B3330"/>
            </a:solidFill>
            <a:prstDash val="solid"/>
          </a:ln>
        </p:spPr>
      </p:sp>
      <p:sp>
        <p:nvSpPr>
          <p:cNvPr id="16" name="Text 14"/>
          <p:cNvSpPr txBox="1"/>
          <p:nvPr/>
        </p:nvSpPr>
        <p:spPr>
          <a:xfrm>
            <a:off x="7973568" y="2103120"/>
            <a:ext cx="3291840" cy="365760"/>
          </a:xfrm>
          <a:prstGeom prst="rect">
            <a:avLst/>
          </a:prstGeom>
          <a:noFill/>
          <a:ln/>
        </p:spPr>
        <p:txBody>
          <a:bodyPr wrap="square" lIns="0" tIns="0" rIns="0" bIns="0" rtlCol="0" anchor="ctr"/>
          <a:lstStyle/>
          <a:p>
            <a:pPr indent="0" marL="0">
              <a:buNone/>
            </a:pPr>
            <a:r>
              <a:rPr lang="en-US" sz="1800" b="1" dirty="0">
                <a:solidFill>
                  <a:srgbClr val="B5563C"/>
                </a:solidFill>
                <a:latin typeface="Georgia" pitchFamily="34" charset="0"/>
                <a:ea typeface="Georgia" pitchFamily="34" charset="-122"/>
                <a:cs typeface="Georgia" pitchFamily="34" charset="-120"/>
              </a:rPr>
              <a:t>Why rotate?</a:t>
            </a:r>
            <a:endParaRPr lang="en-US" sz="1800" dirty="0"/>
          </a:p>
        </p:txBody>
      </p:sp>
      <p:sp>
        <p:nvSpPr>
          <p:cNvPr id="17" name="Text 15"/>
          <p:cNvSpPr txBox="1"/>
          <p:nvPr/>
        </p:nvSpPr>
        <p:spPr>
          <a:xfrm>
            <a:off x="7973568" y="2560320"/>
            <a:ext cx="3291840" cy="2926080"/>
          </a:xfrm>
          <a:prstGeom prst="rect">
            <a:avLst/>
          </a:prstGeom>
          <a:noFill/>
          <a:ln/>
        </p:spPr>
        <p:txBody>
          <a:bodyPr wrap="square" lIns="0" tIns="0" rIns="0" bIns="0" rtlCol="0" anchor="ctr"/>
          <a:lstStyle/>
          <a:p>
            <a:pPr indent="0" marL="0">
              <a:lnSpc>
                <a:spcPts val="2000"/>
              </a:lnSpc>
              <a:buNone/>
            </a:pPr>
            <a:r>
              <a:rPr lang="en-US" sz="1300" dirty="0">
                <a:solidFill>
                  <a:srgbClr val="D8D2C6"/>
                </a:solidFill>
                <a:latin typeface="Calibri" pitchFamily="34" charset="0"/>
                <a:ea typeface="Calibri" pitchFamily="34" charset="-122"/>
                <a:cs typeface="Calibri" pitchFamily="34" charset="-120"/>
              </a:rPr>
              <a:t>Rotating across the buckets keeps us working across all of them instead of being consumed by the largest ones.</a:t>
            </a:r>
            <a:endParaRPr lang="en-US" sz="1300" dirty="0"/>
          </a:p>
          <a:p>
            <a:pPr indent="0" marL="0">
              <a:lnSpc>
                <a:spcPts val="2000"/>
              </a:lnSpc>
              <a:buNone/>
            </a:pPr>
            <a:endParaRPr lang="en-US" sz="1300" dirty="0"/>
          </a:p>
          <a:p>
            <a:pPr indent="0" marL="0">
              <a:lnSpc>
                <a:spcPts val="2000"/>
              </a:lnSpc>
              <a:buNone/>
            </a:pPr>
            <a:r>
              <a:rPr lang="en-US" sz="1300" dirty="0">
                <a:solidFill>
                  <a:srgbClr val="D8D2C6"/>
                </a:solidFill>
                <a:latin typeface="Calibri" pitchFamily="34" charset="0"/>
                <a:ea typeface="Calibri" pitchFamily="34" charset="-122"/>
                <a:cs typeface="Calibri" pitchFamily="34" charset="-120"/>
              </a:rPr>
              <a:t>The Civic Tech Field Guide alone is about 60% of the pool; without rotation we would effectively be studying that one directory.</a:t>
            </a:r>
            <a:endParaRPr lang="en-US" sz="1300" dirty="0"/>
          </a:p>
        </p:txBody>
      </p:sp>
      <p:sp>
        <p:nvSpPr>
          <p:cNvPr id="18" name="Text 16"/>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6B7A75"/>
                </a:solidFill>
                <a:latin typeface="Calibri" pitchFamily="34" charset="0"/>
                <a:ea typeface="Calibri" pitchFamily="34" charset="-122"/>
                <a:cs typeface="Calibri" pitchFamily="34" charset="-120"/>
              </a:rPr>
              <a:t>Palinkas et al. (2015) call this stratified purposeful sampling.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Steps 6–8 — Calibration</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Before we code anything for real, we have to get on the same page about how we make coding decisions.</a:t>
            </a:r>
            <a:endParaRPr lang="en-US" sz="1450" dirty="0"/>
          </a:p>
        </p:txBody>
      </p:sp>
      <p:sp>
        <p:nvSpPr>
          <p:cNvPr id="5" name="Shape 3"/>
          <p:cNvSpPr/>
          <p:nvPr/>
        </p:nvSpPr>
        <p:spPr>
          <a:xfrm>
            <a:off x="640080" y="1920240"/>
            <a:ext cx="10911535" cy="1280160"/>
          </a:xfrm>
          <a:prstGeom prst="roundRect">
            <a:avLst>
              <a:gd name="adj" fmla="val 5000"/>
            </a:avLst>
          </a:prstGeom>
          <a:solidFill>
            <a:srgbClr val="FFFFFF"/>
          </a:solidFill>
          <a:ln w="12700">
            <a:solidFill>
              <a:srgbClr val="E4DDD1"/>
            </a:solidFill>
            <a:prstDash val="solid"/>
          </a:ln>
        </p:spPr>
      </p:sp>
      <p:sp>
        <p:nvSpPr>
          <p:cNvPr id="6" name="Text 4"/>
          <p:cNvSpPr txBox="1"/>
          <p:nvPr/>
        </p:nvSpPr>
        <p:spPr>
          <a:xfrm>
            <a:off x="960120" y="2121408"/>
            <a:ext cx="2011680" cy="365760"/>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Round one</a:t>
            </a:r>
            <a:endParaRPr lang="en-US" sz="1700" dirty="0"/>
          </a:p>
        </p:txBody>
      </p:sp>
      <p:sp>
        <p:nvSpPr>
          <p:cNvPr id="7" name="Text 5"/>
          <p:cNvSpPr txBox="1"/>
          <p:nvPr/>
        </p:nvSpPr>
        <p:spPr>
          <a:xfrm>
            <a:off x="3108960" y="2194560"/>
            <a:ext cx="8076895" cy="822960"/>
          </a:xfrm>
          <a:prstGeom prst="rect">
            <a:avLst/>
          </a:prstGeom>
          <a:noFill/>
          <a:ln/>
        </p:spPr>
        <p:txBody>
          <a:bodyPr wrap="square" lIns="0" tIns="0" rIns="0" bIns="0" rtlCol="0" anchor="ctr"/>
          <a:lstStyle/>
          <a:p>
            <a:pPr indent="0" marL="0">
              <a:lnSpc>
                <a:spcPts val="2000"/>
              </a:lnSpc>
              <a:buNone/>
            </a:pPr>
            <a:r>
              <a:rPr lang="en-US" sz="1350" dirty="0">
                <a:solidFill>
                  <a:srgbClr val="1B3330"/>
                </a:solidFill>
                <a:latin typeface="Calibri" pitchFamily="34" charset="0"/>
                <a:ea typeface="Calibri" pitchFamily="34" charset="-122"/>
                <a:cs typeface="Calibri" pitchFamily="34" charset="-120"/>
              </a:rPr>
              <a:t>Eighteen organizations — six from each block, drawn with a separate seed. All three of us code them by hand and generate our own ideas of rubrics. Then we meet, compare, and agree on a unified one.</a:t>
            </a:r>
            <a:endParaRPr lang="en-US" sz="1350" dirty="0"/>
          </a:p>
        </p:txBody>
      </p:sp>
      <p:sp>
        <p:nvSpPr>
          <p:cNvPr id="8" name="Shape 6"/>
          <p:cNvSpPr/>
          <p:nvPr/>
        </p:nvSpPr>
        <p:spPr>
          <a:xfrm>
            <a:off x="640080" y="3383280"/>
            <a:ext cx="10911535" cy="1280160"/>
          </a:xfrm>
          <a:prstGeom prst="roundRect">
            <a:avLst>
              <a:gd name="adj" fmla="val 5000"/>
            </a:avLst>
          </a:prstGeom>
          <a:solidFill>
            <a:srgbClr val="FFFFFF"/>
          </a:solidFill>
          <a:ln w="12700">
            <a:solidFill>
              <a:srgbClr val="E4DDD1"/>
            </a:solidFill>
            <a:prstDash val="solid"/>
          </a:ln>
        </p:spPr>
      </p:sp>
      <p:sp>
        <p:nvSpPr>
          <p:cNvPr id="9" name="Text 7"/>
          <p:cNvSpPr txBox="1"/>
          <p:nvPr/>
        </p:nvSpPr>
        <p:spPr>
          <a:xfrm>
            <a:off x="960120" y="3584448"/>
            <a:ext cx="2011680" cy="365760"/>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Round two</a:t>
            </a:r>
            <a:endParaRPr lang="en-US" sz="1700" dirty="0"/>
          </a:p>
        </p:txBody>
      </p:sp>
      <p:sp>
        <p:nvSpPr>
          <p:cNvPr id="10" name="Text 8"/>
          <p:cNvSpPr txBox="1"/>
          <p:nvPr/>
        </p:nvSpPr>
        <p:spPr>
          <a:xfrm>
            <a:off x="3108960" y="3657600"/>
            <a:ext cx="8076895" cy="822960"/>
          </a:xfrm>
          <a:prstGeom prst="rect">
            <a:avLst/>
          </a:prstGeom>
          <a:noFill/>
          <a:ln/>
        </p:spPr>
        <p:txBody>
          <a:bodyPr wrap="square" lIns="0" tIns="0" rIns="0" bIns="0" rtlCol="0" anchor="ctr"/>
          <a:lstStyle/>
          <a:p>
            <a:pPr indent="0" marL="0">
              <a:lnSpc>
                <a:spcPts val="2000"/>
              </a:lnSpc>
              <a:buNone/>
            </a:pPr>
            <a:r>
              <a:rPr lang="en-US" sz="1350" dirty="0">
                <a:solidFill>
                  <a:srgbClr val="1B3330"/>
                </a:solidFill>
                <a:latin typeface="Calibri" pitchFamily="34" charset="0"/>
                <a:ea typeface="Calibri" pitchFamily="34" charset="-122"/>
                <a:cs typeface="Calibri" pitchFamily="34" charset="-120"/>
              </a:rPr>
              <a:t>Eighteen more. Fresh organizations, not the same ones — re-coding the first set would only tell us whether we remember what we agreed. This round tells us whether the rubrics work.</a:t>
            </a:r>
            <a:endParaRPr lang="en-US" sz="1350" dirty="0"/>
          </a:p>
        </p:txBody>
      </p:sp>
      <p:sp>
        <p:nvSpPr>
          <p:cNvPr id="11" name="Shape 9"/>
          <p:cNvSpPr/>
          <p:nvPr/>
        </p:nvSpPr>
        <p:spPr>
          <a:xfrm>
            <a:off x="640080" y="4846320"/>
            <a:ext cx="5318608" cy="1371600"/>
          </a:xfrm>
          <a:prstGeom prst="roundRect">
            <a:avLst>
              <a:gd name="adj" fmla="val 4667"/>
            </a:avLst>
          </a:prstGeom>
          <a:solidFill>
            <a:srgbClr val="F0E9E1"/>
          </a:solidFill>
          <a:ln w="12700">
            <a:solidFill>
              <a:srgbClr val="E0D3C7"/>
            </a:solidFill>
            <a:prstDash val="solid"/>
          </a:ln>
        </p:spPr>
      </p:sp>
      <p:sp>
        <p:nvSpPr>
          <p:cNvPr id="12" name="Text 10"/>
          <p:cNvSpPr txBox="1"/>
          <p:nvPr/>
        </p:nvSpPr>
        <p:spPr>
          <a:xfrm>
            <a:off x="914400" y="5029200"/>
            <a:ext cx="5120640" cy="320040"/>
          </a:xfrm>
          <a:prstGeom prst="rect">
            <a:avLst/>
          </a:prstGeom>
          <a:noFill/>
          <a:ln/>
        </p:spPr>
        <p:txBody>
          <a:bodyPr wrap="square" lIns="0" tIns="0" rIns="0" bIns="0" rtlCol="0" anchor="ctr"/>
          <a:lstStyle/>
          <a:p>
            <a:pPr indent="0" marL="0">
              <a:buNone/>
            </a:pPr>
            <a:r>
              <a:rPr lang="en-US" sz="1500" b="1" dirty="0">
                <a:solidFill>
                  <a:srgbClr val="B5563C"/>
                </a:solidFill>
                <a:latin typeface="Georgia" pitchFamily="34" charset="0"/>
                <a:ea typeface="Georgia" pitchFamily="34" charset="-122"/>
                <a:cs typeface="Georgia" pitchFamily="34" charset="-120"/>
              </a:rPr>
              <a:t>In calibration we code everything</a:t>
            </a:r>
            <a:endParaRPr lang="en-US" sz="1500" dirty="0"/>
          </a:p>
        </p:txBody>
      </p:sp>
      <p:sp>
        <p:nvSpPr>
          <p:cNvPr id="13" name="Text 11"/>
          <p:cNvSpPr txBox="1"/>
          <p:nvPr/>
        </p:nvSpPr>
        <p:spPr>
          <a:xfrm>
            <a:off x="914400" y="5376672"/>
            <a:ext cx="5120640" cy="68580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All three screening criteria on every record, and all the other variables too — regardless of how they scored on screening.</a:t>
            </a:r>
            <a:endParaRPr lang="en-US" sz="1250" dirty="0"/>
          </a:p>
        </p:txBody>
      </p:sp>
      <p:sp>
        <p:nvSpPr>
          <p:cNvPr id="14" name="Shape 12"/>
          <p:cNvSpPr/>
          <p:nvPr/>
        </p:nvSpPr>
        <p:spPr>
          <a:xfrm>
            <a:off x="6233008" y="4846320"/>
            <a:ext cx="5318608" cy="1371600"/>
          </a:xfrm>
          <a:prstGeom prst="roundRect">
            <a:avLst>
              <a:gd name="adj" fmla="val 4667"/>
            </a:avLst>
          </a:prstGeom>
          <a:solidFill>
            <a:srgbClr val="FFFFFF"/>
          </a:solidFill>
          <a:ln w="12700">
            <a:solidFill>
              <a:srgbClr val="E4DDD1"/>
            </a:solidFill>
            <a:prstDash val="solid"/>
          </a:ln>
        </p:spPr>
      </p:sp>
      <p:sp>
        <p:nvSpPr>
          <p:cNvPr id="15" name="Text 13"/>
          <p:cNvSpPr txBox="1"/>
          <p:nvPr/>
        </p:nvSpPr>
        <p:spPr>
          <a:xfrm>
            <a:off x="6507328" y="5029200"/>
            <a:ext cx="5120640" cy="320040"/>
          </a:xfrm>
          <a:prstGeom prst="rect">
            <a:avLst/>
          </a:prstGeom>
          <a:noFill/>
          <a:ln/>
        </p:spPr>
        <p:txBody>
          <a:bodyPr wrap="square" lIns="0" tIns="0" rIns="0" bIns="0" rtlCol="0" anchor="ctr"/>
          <a:lstStyle/>
          <a:p>
            <a:pPr indent="0" marL="0">
              <a:buNone/>
            </a:pPr>
            <a:r>
              <a:rPr lang="en-US" sz="1500" b="1" dirty="0">
                <a:solidFill>
                  <a:srgbClr val="5E8B7E"/>
                </a:solidFill>
                <a:latin typeface="Georgia" pitchFamily="34" charset="0"/>
                <a:ea typeface="Georgia" pitchFamily="34" charset="-122"/>
                <a:cs typeface="Georgia" pitchFamily="34" charset="-120"/>
              </a:rPr>
              <a:t>Thirty-six set aside permanently</a:t>
            </a:r>
            <a:endParaRPr lang="en-US" sz="1500" dirty="0"/>
          </a:p>
        </p:txBody>
      </p:sp>
      <p:sp>
        <p:nvSpPr>
          <p:cNvPr id="16" name="Text 14"/>
          <p:cNvSpPr txBox="1"/>
          <p:nvPr/>
        </p:nvSpPr>
        <p:spPr>
          <a:xfrm>
            <a:off x="6507328" y="5376672"/>
            <a:ext cx="5120640" cy="685800"/>
          </a:xfrm>
          <a:prstGeom prst="rect">
            <a:avLst/>
          </a:prstGeom>
          <a:noFill/>
          <a:ln/>
        </p:spPr>
        <p:txBody>
          <a:bodyPr wrap="square" lIns="0" tIns="0" rIns="0" bIns="0" rtlCol="0" anchor="ctr"/>
          <a:lstStyle/>
          <a:p>
            <a:pPr indent="0" marL="0">
              <a:lnSpc>
                <a:spcPts val="1800"/>
              </a:lnSpc>
              <a:buNone/>
            </a:pPr>
            <a:r>
              <a:rPr lang="en-US" sz="1250" dirty="0">
                <a:solidFill>
                  <a:srgbClr val="1B3330"/>
                </a:solidFill>
                <a:latin typeface="Calibri" pitchFamily="34" charset="0"/>
                <a:ea typeface="Calibri" pitchFamily="34" charset="-122"/>
                <a:cs typeface="Calibri" pitchFamily="34" charset="-120"/>
              </a:rPr>
              <a:t>These organizations never enter the results, no matter how they code. They exist to test the instrument, not to be data.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The three harder screening criteria</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These take judgment, which is why they are the ones we calibrate on.</a:t>
            </a:r>
            <a:endParaRPr lang="en-US" sz="1450" dirty="0"/>
          </a:p>
        </p:txBody>
      </p:sp>
      <p:sp>
        <p:nvSpPr>
          <p:cNvPr id="5" name="Shape 3"/>
          <p:cNvSpPr/>
          <p:nvPr/>
        </p:nvSpPr>
        <p:spPr>
          <a:xfrm>
            <a:off x="640080" y="1965960"/>
            <a:ext cx="10911535" cy="1234440"/>
          </a:xfrm>
          <a:prstGeom prst="roundRect">
            <a:avLst>
              <a:gd name="adj" fmla="val 5185"/>
            </a:avLst>
          </a:prstGeom>
          <a:solidFill>
            <a:srgbClr val="FFFFFF"/>
          </a:solidFill>
          <a:ln w="12700">
            <a:solidFill>
              <a:srgbClr val="E4DDD1"/>
            </a:solidFill>
            <a:prstDash val="solid"/>
          </a:ln>
        </p:spPr>
      </p:sp>
      <p:sp>
        <p:nvSpPr>
          <p:cNvPr id="6" name="Shape 4"/>
          <p:cNvSpPr/>
          <p:nvPr/>
        </p:nvSpPr>
        <p:spPr>
          <a:xfrm>
            <a:off x="932688" y="2221992"/>
            <a:ext cx="384048" cy="384048"/>
          </a:xfrm>
          <a:prstGeom prst="ellipse">
            <a:avLst/>
          </a:prstGeom>
          <a:solidFill>
            <a:srgbClr val="B5563C"/>
          </a:solidFill>
          <a:ln w="12700">
            <a:solidFill>
              <a:srgbClr val="333333"/>
            </a:solidFill>
            <a:prstDash val="solid"/>
          </a:ln>
        </p:spPr>
      </p:sp>
      <p:sp>
        <p:nvSpPr>
          <p:cNvPr id="7" name="Text 5"/>
          <p:cNvSpPr txBox="1"/>
          <p:nvPr/>
        </p:nvSpPr>
        <p:spPr>
          <a:xfrm>
            <a:off x="932688" y="2221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8" name="Text 6"/>
          <p:cNvSpPr txBox="1"/>
          <p:nvPr/>
        </p:nvSpPr>
        <p:spPr>
          <a:xfrm>
            <a:off x="1554480" y="2167128"/>
            <a:ext cx="9631375" cy="411480"/>
          </a:xfrm>
          <a:prstGeom prst="rect">
            <a:avLst/>
          </a:prstGeom>
          <a:noFill/>
          <a:ln/>
        </p:spPr>
        <p:txBody>
          <a:bodyPr wrap="square" lIns="0" tIns="0" rIns="0" bIns="0" rtlCol="0" anchor="ctr"/>
          <a:lstStyle/>
          <a:p>
            <a:pPr indent="0" marL="0">
              <a:buNone/>
            </a:pPr>
            <a:r>
              <a:rPr lang="en-US" sz="1550" b="1" dirty="0">
                <a:solidFill>
                  <a:srgbClr val="1B3330"/>
                </a:solidFill>
                <a:latin typeface="Georgia" pitchFamily="34" charset="0"/>
                <a:ea typeface="Georgia" pitchFamily="34" charset="-122"/>
                <a:cs typeface="Georgia" pitchFamily="34" charset="-120"/>
              </a:rPr>
              <a:t>Is it a tech organization, or an organization that uses tech but isn’t really about tech?</a:t>
            </a:r>
            <a:endParaRPr lang="en-US" sz="1550" dirty="0"/>
          </a:p>
        </p:txBody>
      </p:sp>
      <p:sp>
        <p:nvSpPr>
          <p:cNvPr id="9" name="Text 7"/>
          <p:cNvSpPr txBox="1"/>
          <p:nvPr/>
        </p:nvSpPr>
        <p:spPr>
          <a:xfrm>
            <a:off x="1554480" y="2587752"/>
            <a:ext cx="9631375" cy="548640"/>
          </a:xfrm>
          <a:prstGeom prst="rect">
            <a:avLst/>
          </a:prstGeom>
          <a:noFill/>
          <a:ln/>
        </p:spPr>
        <p:txBody>
          <a:bodyPr wrap="square" lIns="0" tIns="0" rIns="0" bIns="0" rtlCol="0" anchor="ctr"/>
          <a:lstStyle/>
          <a:p>
            <a:pPr indent="0" marL="0">
              <a:lnSpc>
                <a:spcPts val="1800"/>
              </a:lnSpc>
              <a:buNone/>
            </a:pPr>
            <a:r>
              <a:rPr lang="en-US" sz="1250" dirty="0">
                <a:solidFill>
                  <a:srgbClr val="6B7A75"/>
                </a:solidFill>
                <a:latin typeface="Calibri" pitchFamily="34" charset="0"/>
                <a:ea typeface="Calibri" pitchFamily="34" charset="-122"/>
                <a:cs typeface="Calibri" pitchFamily="34" charset="-120"/>
              </a:rPr>
              <a:t>If you removed technology from the organization’s description, would the organization still exist? If it would, it fails.</a:t>
            </a:r>
            <a:endParaRPr lang="en-US" sz="1250" dirty="0"/>
          </a:p>
        </p:txBody>
      </p:sp>
      <p:sp>
        <p:nvSpPr>
          <p:cNvPr id="10" name="Shape 8"/>
          <p:cNvSpPr/>
          <p:nvPr/>
        </p:nvSpPr>
        <p:spPr>
          <a:xfrm>
            <a:off x="640080" y="3337560"/>
            <a:ext cx="10911535" cy="1234440"/>
          </a:xfrm>
          <a:prstGeom prst="roundRect">
            <a:avLst>
              <a:gd name="adj" fmla="val 5185"/>
            </a:avLst>
          </a:prstGeom>
          <a:solidFill>
            <a:srgbClr val="FFFFFF"/>
          </a:solidFill>
          <a:ln w="12700">
            <a:solidFill>
              <a:srgbClr val="E4DDD1"/>
            </a:solidFill>
            <a:prstDash val="solid"/>
          </a:ln>
        </p:spPr>
      </p:sp>
      <p:sp>
        <p:nvSpPr>
          <p:cNvPr id="11" name="Shape 9"/>
          <p:cNvSpPr/>
          <p:nvPr/>
        </p:nvSpPr>
        <p:spPr>
          <a:xfrm>
            <a:off x="932688" y="3593592"/>
            <a:ext cx="384048" cy="384048"/>
          </a:xfrm>
          <a:prstGeom prst="ellipse">
            <a:avLst/>
          </a:prstGeom>
          <a:solidFill>
            <a:srgbClr val="B5563C"/>
          </a:solidFill>
          <a:ln w="12700">
            <a:solidFill>
              <a:srgbClr val="333333"/>
            </a:solidFill>
            <a:prstDash val="solid"/>
          </a:ln>
        </p:spPr>
      </p:sp>
      <p:sp>
        <p:nvSpPr>
          <p:cNvPr id="12" name="Text 10"/>
          <p:cNvSpPr txBox="1"/>
          <p:nvPr/>
        </p:nvSpPr>
        <p:spPr>
          <a:xfrm>
            <a:off x="932688" y="3593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3" name="Text 11"/>
          <p:cNvSpPr txBox="1"/>
          <p:nvPr/>
        </p:nvSpPr>
        <p:spPr>
          <a:xfrm>
            <a:off x="1554480" y="3538728"/>
            <a:ext cx="9631375" cy="411480"/>
          </a:xfrm>
          <a:prstGeom prst="rect">
            <a:avLst/>
          </a:prstGeom>
          <a:noFill/>
          <a:ln/>
        </p:spPr>
        <p:txBody>
          <a:bodyPr wrap="square" lIns="0" tIns="0" rIns="0" bIns="0" rtlCol="0" anchor="ctr"/>
          <a:lstStyle/>
          <a:p>
            <a:pPr indent="0" marL="0">
              <a:buNone/>
            </a:pPr>
            <a:r>
              <a:rPr lang="en-US" sz="1550" b="1" dirty="0">
                <a:solidFill>
                  <a:srgbClr val="1B3330"/>
                </a:solidFill>
                <a:latin typeface="Georgia" pitchFamily="34" charset="0"/>
                <a:ea typeface="Georgia" pitchFamily="34" charset="-122"/>
                <a:cs typeface="Georgia" pitchFamily="34" charset="-120"/>
              </a:rPr>
              <a:t>Does it work for the public, or for its own members?</a:t>
            </a:r>
            <a:endParaRPr lang="en-US" sz="1550" dirty="0"/>
          </a:p>
        </p:txBody>
      </p:sp>
      <p:sp>
        <p:nvSpPr>
          <p:cNvPr id="14" name="Text 12"/>
          <p:cNvSpPr txBox="1"/>
          <p:nvPr/>
        </p:nvSpPr>
        <p:spPr>
          <a:xfrm>
            <a:off x="1554480" y="3959352"/>
            <a:ext cx="9631375" cy="548640"/>
          </a:xfrm>
          <a:prstGeom prst="rect">
            <a:avLst/>
          </a:prstGeom>
          <a:noFill/>
          <a:ln/>
        </p:spPr>
        <p:txBody>
          <a:bodyPr wrap="square" lIns="0" tIns="0" rIns="0" bIns="0" rtlCol="0" anchor="ctr"/>
          <a:lstStyle/>
          <a:p>
            <a:pPr indent="0" marL="0">
              <a:lnSpc>
                <a:spcPts val="1800"/>
              </a:lnSpc>
              <a:buNone/>
            </a:pPr>
            <a:r>
              <a:rPr lang="en-US" sz="1250" dirty="0">
                <a:solidFill>
                  <a:srgbClr val="6B7A75"/>
                </a:solidFill>
                <a:latin typeface="Calibri" pitchFamily="34" charset="0"/>
                <a:ea typeface="Calibri" pitchFamily="34" charset="-122"/>
                <a:cs typeface="Calibri" pitchFamily="34" charset="-120"/>
              </a:rPr>
              <a:t>The way a chamber of commerce works for its member businesses. For-profits only pass if the commitment is structural — PBC status, B-Corp, or something written into their articles. A mission statement is not enough.</a:t>
            </a:r>
            <a:endParaRPr lang="en-US" sz="1250" dirty="0"/>
          </a:p>
        </p:txBody>
      </p:sp>
      <p:sp>
        <p:nvSpPr>
          <p:cNvPr id="15" name="Shape 13"/>
          <p:cNvSpPr/>
          <p:nvPr/>
        </p:nvSpPr>
        <p:spPr>
          <a:xfrm>
            <a:off x="640080" y="4709160"/>
            <a:ext cx="10911535" cy="1234440"/>
          </a:xfrm>
          <a:prstGeom prst="roundRect">
            <a:avLst>
              <a:gd name="adj" fmla="val 5185"/>
            </a:avLst>
          </a:prstGeom>
          <a:solidFill>
            <a:srgbClr val="FFFFFF"/>
          </a:solidFill>
          <a:ln w="12700">
            <a:solidFill>
              <a:srgbClr val="E4DDD1"/>
            </a:solidFill>
            <a:prstDash val="solid"/>
          </a:ln>
        </p:spPr>
      </p:sp>
      <p:sp>
        <p:nvSpPr>
          <p:cNvPr id="16" name="Shape 14"/>
          <p:cNvSpPr/>
          <p:nvPr/>
        </p:nvSpPr>
        <p:spPr>
          <a:xfrm>
            <a:off x="932688" y="4965192"/>
            <a:ext cx="384048" cy="384048"/>
          </a:xfrm>
          <a:prstGeom prst="ellipse">
            <a:avLst/>
          </a:prstGeom>
          <a:solidFill>
            <a:srgbClr val="B5563C"/>
          </a:solidFill>
          <a:ln w="12700">
            <a:solidFill>
              <a:srgbClr val="333333"/>
            </a:solidFill>
            <a:prstDash val="solid"/>
          </a:ln>
        </p:spPr>
      </p:sp>
      <p:sp>
        <p:nvSpPr>
          <p:cNvPr id="17" name="Text 15"/>
          <p:cNvSpPr txBox="1"/>
          <p:nvPr/>
        </p:nvSpPr>
        <p:spPr>
          <a:xfrm>
            <a:off x="932688" y="4965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554480" y="4910328"/>
            <a:ext cx="9631375" cy="411480"/>
          </a:xfrm>
          <a:prstGeom prst="rect">
            <a:avLst/>
          </a:prstGeom>
          <a:noFill/>
          <a:ln/>
        </p:spPr>
        <p:txBody>
          <a:bodyPr wrap="square" lIns="0" tIns="0" rIns="0" bIns="0" rtlCol="0" anchor="ctr"/>
          <a:lstStyle/>
          <a:p>
            <a:pPr indent="0" marL="0">
              <a:buNone/>
            </a:pPr>
            <a:r>
              <a:rPr lang="en-US" sz="1550" b="1" dirty="0">
                <a:solidFill>
                  <a:srgbClr val="1B3330"/>
                </a:solidFill>
                <a:latin typeface="Georgia" pitchFamily="34" charset="0"/>
                <a:ea typeface="Georgia" pitchFamily="34" charset="-122"/>
                <a:cs typeface="Georgia" pitchFamily="34" charset="-120"/>
              </a:rPr>
              <a:t>(Funders only.) Do they run a program that explicitly describes itself as being about technology?</a:t>
            </a:r>
            <a:endParaRPr lang="en-US" sz="1550" dirty="0"/>
          </a:p>
        </p:txBody>
      </p:sp>
      <p:sp>
        <p:nvSpPr>
          <p:cNvPr id="19" name="Text 17"/>
          <p:cNvSpPr txBox="1"/>
          <p:nvPr/>
        </p:nvSpPr>
        <p:spPr>
          <a:xfrm>
            <a:off x="1554480" y="5330952"/>
            <a:ext cx="9631375" cy="548640"/>
          </a:xfrm>
          <a:prstGeom prst="rect">
            <a:avLst/>
          </a:prstGeom>
          <a:noFill/>
          <a:ln/>
        </p:spPr>
        <p:txBody>
          <a:bodyPr wrap="square" lIns="0" tIns="0" rIns="0" bIns="0" rtlCol="0" anchor="ctr"/>
          <a:lstStyle/>
          <a:p>
            <a:pPr indent="0" marL="0">
              <a:lnSpc>
                <a:spcPts val="1800"/>
              </a:lnSpc>
              <a:buNone/>
            </a:pPr>
            <a:r>
              <a:rPr lang="en-US" sz="1250" dirty="0">
                <a:solidFill>
                  <a:srgbClr val="6B7A75"/>
                </a:solidFill>
                <a:latin typeface="Calibri" pitchFamily="34" charset="0"/>
                <a:ea typeface="Calibri" pitchFamily="34" charset="-122"/>
                <a:cs typeface="Calibri" pitchFamily="34" charset="-120"/>
              </a:rPr>
              <a:t>Write N/A for everyone who isn’t a funder.</a:t>
            </a:r>
            <a:endParaRPr lang="en-US" sz="1250" dirty="0"/>
          </a:p>
        </p:txBody>
      </p:sp>
      <p:sp>
        <p:nvSpPr>
          <p:cNvPr id="20" name="Shape 18"/>
          <p:cNvSpPr/>
          <p:nvPr/>
        </p:nvSpPr>
        <p:spPr>
          <a:xfrm>
            <a:off x="640080" y="5623560"/>
            <a:ext cx="10911535" cy="777240"/>
          </a:xfrm>
          <a:prstGeom prst="roundRect">
            <a:avLst>
              <a:gd name="adj" fmla="val 8235"/>
            </a:avLst>
          </a:prstGeom>
          <a:solidFill>
            <a:srgbClr val="1B3330"/>
          </a:solidFill>
          <a:ln w="12700">
            <a:solidFill>
              <a:srgbClr val="1B3330"/>
            </a:solidFill>
            <a:prstDash val="solid"/>
          </a:ln>
        </p:spPr>
      </p:sp>
      <p:sp>
        <p:nvSpPr>
          <p:cNvPr id="21" name="Text 19"/>
          <p:cNvSpPr txBox="1"/>
          <p:nvPr/>
        </p:nvSpPr>
        <p:spPr>
          <a:xfrm>
            <a:off x="932688" y="5788152"/>
            <a:ext cx="4572000" cy="320040"/>
          </a:xfrm>
          <a:prstGeom prst="rect">
            <a:avLst/>
          </a:prstGeom>
          <a:noFill/>
          <a:ln/>
        </p:spPr>
        <p:txBody>
          <a:bodyPr wrap="square" lIns="0" tIns="0" rIns="0" bIns="0" rtlCol="0" anchor="ctr"/>
          <a:lstStyle/>
          <a:p>
            <a:pPr indent="0" marL="0">
              <a:buNone/>
            </a:pPr>
            <a:r>
              <a:rPr lang="en-US" sz="1450" b="1" dirty="0">
                <a:solidFill>
                  <a:srgbClr val="B5563C"/>
                </a:solidFill>
                <a:latin typeface="Georgia" pitchFamily="34" charset="0"/>
                <a:ea typeface="Georgia" pitchFamily="34" charset="-122"/>
                <a:cs typeface="Georgia" pitchFamily="34" charset="-120"/>
              </a:rPr>
              <a:t>In calibration we code all three for every record.</a:t>
            </a:r>
            <a:endParaRPr lang="en-US" sz="1450" dirty="0"/>
          </a:p>
        </p:txBody>
      </p:sp>
      <p:sp>
        <p:nvSpPr>
          <p:cNvPr id="22" name="Text 20"/>
          <p:cNvSpPr txBox="1"/>
          <p:nvPr/>
        </p:nvSpPr>
        <p:spPr>
          <a:xfrm>
            <a:off x="5669280" y="5779008"/>
            <a:ext cx="5608015" cy="50292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From Step 9 onward we stop at the first failure. If we stopped at the first failure now, we’d barely have any codings of criterion 4 to compare.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Tier 1, Tier 2, and why Tier 2 stays in</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Tier records one thing: does the organization use our field’s vocabulary about itself, or not?</a:t>
            </a:r>
            <a:endParaRPr lang="en-US" sz="1450" dirty="0"/>
          </a:p>
        </p:txBody>
      </p:sp>
      <p:sp>
        <p:nvSpPr>
          <p:cNvPr id="5" name="Shape 3"/>
          <p:cNvSpPr/>
          <p:nvPr/>
        </p:nvSpPr>
        <p:spPr>
          <a:xfrm>
            <a:off x="640080" y="1874520"/>
            <a:ext cx="5486400" cy="1234440"/>
          </a:xfrm>
          <a:prstGeom prst="roundRect">
            <a:avLst>
              <a:gd name="adj" fmla="val 5185"/>
            </a:avLst>
          </a:prstGeom>
          <a:solidFill>
            <a:srgbClr val="FFFFFF"/>
          </a:solidFill>
          <a:ln w="12700">
            <a:solidFill>
              <a:srgbClr val="E4DDD1"/>
            </a:solidFill>
            <a:prstDash val="solid"/>
          </a:ln>
        </p:spPr>
      </p:sp>
      <p:sp>
        <p:nvSpPr>
          <p:cNvPr id="6" name="Text 4"/>
          <p:cNvSpPr txBox="1"/>
          <p:nvPr/>
        </p:nvSpPr>
        <p:spPr>
          <a:xfrm>
            <a:off x="932688" y="2048256"/>
            <a:ext cx="1828800" cy="347472"/>
          </a:xfrm>
          <a:prstGeom prst="rect">
            <a:avLst/>
          </a:prstGeom>
          <a:noFill/>
          <a:ln/>
        </p:spPr>
        <p:txBody>
          <a:bodyPr wrap="square" lIns="0" tIns="0" rIns="0" bIns="0" rtlCol="0" anchor="ctr"/>
          <a:lstStyle/>
          <a:p>
            <a:pPr indent="0" marL="0">
              <a:buNone/>
            </a:pPr>
            <a:r>
              <a:rPr lang="en-US" sz="1700" b="1" dirty="0">
                <a:solidFill>
                  <a:srgbClr val="5E8B7E"/>
                </a:solidFill>
                <a:latin typeface="Georgia" pitchFamily="34" charset="0"/>
                <a:ea typeface="Georgia" pitchFamily="34" charset="-122"/>
                <a:cs typeface="Georgia" pitchFamily="34" charset="-120"/>
              </a:rPr>
              <a:t>Tier 1</a:t>
            </a:r>
            <a:endParaRPr lang="en-US" sz="1700" dirty="0"/>
          </a:p>
        </p:txBody>
      </p:sp>
      <p:sp>
        <p:nvSpPr>
          <p:cNvPr id="7" name="Text 5"/>
          <p:cNvSpPr txBox="1"/>
          <p:nvPr/>
        </p:nvSpPr>
        <p:spPr>
          <a:xfrm>
            <a:off x="932688" y="2414016"/>
            <a:ext cx="4937760" cy="594360"/>
          </a:xfrm>
          <a:prstGeom prst="rect">
            <a:avLst/>
          </a:prstGeom>
          <a:noFill/>
          <a:ln/>
        </p:spPr>
        <p:txBody>
          <a:bodyPr wrap="square" lIns="0" tIns="0" rIns="0" bIns="0" rtlCol="0" anchor="ctr"/>
          <a:lstStyle/>
          <a:p>
            <a:pPr indent="0" marL="0">
              <a:lnSpc>
                <a:spcPts val="1900"/>
              </a:lnSpc>
              <a:buNone/>
            </a:pPr>
            <a:r>
              <a:rPr lang="en-US" sz="1300" dirty="0">
                <a:solidFill>
                  <a:srgbClr val="1B3330"/>
                </a:solidFill>
                <a:latin typeface="Calibri" pitchFamily="34" charset="0"/>
                <a:ea typeface="Calibri" pitchFamily="34" charset="-122"/>
                <a:cs typeface="Calibri" pitchFamily="34" charset="-120"/>
              </a:rPr>
              <a:t>Somewhere on its own site, describing itself, the organization uses one of the twelve frozen lexicon terms.</a:t>
            </a:r>
            <a:endParaRPr lang="en-US" sz="1300" dirty="0"/>
          </a:p>
        </p:txBody>
      </p:sp>
      <p:sp>
        <p:nvSpPr>
          <p:cNvPr id="8" name="Shape 6"/>
          <p:cNvSpPr/>
          <p:nvPr/>
        </p:nvSpPr>
        <p:spPr>
          <a:xfrm>
            <a:off x="640080" y="3246120"/>
            <a:ext cx="5486400" cy="1691640"/>
          </a:xfrm>
          <a:prstGeom prst="roundRect">
            <a:avLst>
              <a:gd name="adj" fmla="val 3784"/>
            </a:avLst>
          </a:prstGeom>
          <a:solidFill>
            <a:srgbClr val="F0E9E1"/>
          </a:solidFill>
          <a:ln w="12700">
            <a:solidFill>
              <a:srgbClr val="E0D3C7"/>
            </a:solidFill>
            <a:prstDash val="solid"/>
          </a:ln>
        </p:spPr>
      </p:sp>
      <p:sp>
        <p:nvSpPr>
          <p:cNvPr id="9" name="Text 7"/>
          <p:cNvSpPr txBox="1"/>
          <p:nvPr/>
        </p:nvSpPr>
        <p:spPr>
          <a:xfrm>
            <a:off x="932688" y="3419856"/>
            <a:ext cx="1828800" cy="347472"/>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Tier 2</a:t>
            </a:r>
            <a:endParaRPr lang="en-US" sz="1700" dirty="0"/>
          </a:p>
        </p:txBody>
      </p:sp>
      <p:sp>
        <p:nvSpPr>
          <p:cNvPr id="10" name="Text 8"/>
          <p:cNvSpPr txBox="1"/>
          <p:nvPr/>
        </p:nvSpPr>
        <p:spPr>
          <a:xfrm>
            <a:off x="932688" y="3785616"/>
            <a:ext cx="4937760" cy="1051560"/>
          </a:xfrm>
          <a:prstGeom prst="rect">
            <a:avLst/>
          </a:prstGeom>
          <a:noFill/>
          <a:ln/>
        </p:spPr>
        <p:txBody>
          <a:bodyPr wrap="square" lIns="0" tIns="0" rIns="0" bIns="0" rtlCol="0" anchor="ctr"/>
          <a:lstStyle/>
          <a:p>
            <a:pPr indent="0" marL="0">
              <a:lnSpc>
                <a:spcPts val="1900"/>
              </a:lnSpc>
              <a:buNone/>
            </a:pPr>
            <a:r>
              <a:rPr lang="en-US" sz="1300" dirty="0">
                <a:solidFill>
                  <a:srgbClr val="1B3330"/>
                </a:solidFill>
                <a:latin typeface="Calibri" pitchFamily="34" charset="0"/>
                <a:ea typeface="Calibri" pitchFamily="34" charset="-122"/>
                <a:cs typeface="Calibri" pitchFamily="34" charset="-120"/>
              </a:rPr>
              <a:t>A frame nominated this organization, it does recognizably the same kind of work, and it never uses any of those words. It describes itself some other way, or in no categorical way at all.</a:t>
            </a:r>
            <a:endParaRPr lang="en-US" sz="1300" dirty="0"/>
          </a:p>
        </p:txBody>
      </p:sp>
      <p:sp>
        <p:nvSpPr>
          <p:cNvPr id="11" name="Text 9"/>
          <p:cNvSpPr txBox="1"/>
          <p:nvPr/>
        </p:nvSpPr>
        <p:spPr>
          <a:xfrm>
            <a:off x="640080" y="5120640"/>
            <a:ext cx="5486400" cy="914400"/>
          </a:xfrm>
          <a:prstGeom prst="rect">
            <a:avLst/>
          </a:prstGeom>
          <a:noFill/>
          <a:ln/>
        </p:spPr>
        <p:txBody>
          <a:bodyPr wrap="square" rtlCol="0" anchor="ctr"/>
          <a:lstStyle/>
          <a:p>
            <a:pPr indent="0" marL="0">
              <a:lnSpc>
                <a:spcPts val="2200"/>
              </a:lnSpc>
              <a:buNone/>
            </a:pPr>
            <a:r>
              <a:rPr lang="en-US" sz="1450" i="1" dirty="0">
                <a:solidFill>
                  <a:srgbClr val="5E8B7E"/>
                </a:solidFill>
                <a:latin typeface="Georgia" pitchFamily="34" charset="0"/>
                <a:ea typeface="Georgia" pitchFamily="34" charset="-122"/>
                <a:cs typeface="Georgia" pitchFamily="34" charset="-120"/>
              </a:rPr>
              <a:t>Tier 2 organizations are not failures or edge cases to be cleaned out. They may be the most valuable records we collect.</a:t>
            </a:r>
            <a:endParaRPr lang="en-US" sz="1450" dirty="0"/>
          </a:p>
        </p:txBody>
      </p:sp>
      <p:sp>
        <p:nvSpPr>
          <p:cNvPr id="12" name="Shape 10"/>
          <p:cNvSpPr/>
          <p:nvPr/>
        </p:nvSpPr>
        <p:spPr>
          <a:xfrm>
            <a:off x="6675120" y="1874520"/>
            <a:ext cx="4876495" cy="3977640"/>
          </a:xfrm>
          <a:prstGeom prst="roundRect">
            <a:avLst>
              <a:gd name="adj" fmla="val 1609"/>
            </a:avLst>
          </a:prstGeom>
          <a:solidFill>
            <a:srgbClr val="1B3330"/>
          </a:solidFill>
          <a:ln w="12700">
            <a:solidFill>
              <a:srgbClr val="1B3330"/>
            </a:solidFill>
            <a:prstDash val="solid"/>
          </a:ln>
        </p:spPr>
      </p:sp>
      <p:sp>
        <p:nvSpPr>
          <p:cNvPr id="13" name="Text 11"/>
          <p:cNvSpPr txBox="1"/>
          <p:nvPr/>
        </p:nvSpPr>
        <p:spPr>
          <a:xfrm>
            <a:off x="6967728" y="2084832"/>
            <a:ext cx="4206240" cy="320040"/>
          </a:xfrm>
          <a:prstGeom prst="rect">
            <a:avLst/>
          </a:prstGeom>
          <a:noFill/>
          <a:ln/>
        </p:spPr>
        <p:txBody>
          <a:bodyPr wrap="square" lIns="0" tIns="0" rIns="0" bIns="0" rtlCol="0" anchor="ctr"/>
          <a:lstStyle/>
          <a:p>
            <a:pPr indent="0" marL="0">
              <a:buNone/>
            </a:pPr>
            <a:r>
              <a:rPr lang="en-US" sz="1100" b="1" spc="150" kern="0" dirty="0">
                <a:solidFill>
                  <a:srgbClr val="B5563C"/>
                </a:solidFill>
                <a:latin typeface="Calibri" pitchFamily="34" charset="0"/>
                <a:ea typeface="Calibri" pitchFamily="34" charset="-122"/>
                <a:cs typeface="Calibri" pitchFamily="34" charset="-120"/>
              </a:rPr>
              <a:t>An example</a:t>
            </a:r>
            <a:endParaRPr lang="en-US" sz="1100" dirty="0"/>
          </a:p>
        </p:txBody>
      </p:sp>
      <p:sp>
        <p:nvSpPr>
          <p:cNvPr id="14" name="Text 12"/>
          <p:cNvSpPr txBox="1"/>
          <p:nvPr/>
        </p:nvSpPr>
        <p:spPr>
          <a:xfrm>
            <a:off x="6967728" y="2487168"/>
            <a:ext cx="4297680" cy="1234440"/>
          </a:xfrm>
          <a:prstGeom prst="rect">
            <a:avLst/>
          </a:prstGeom>
          <a:noFill/>
          <a:ln/>
        </p:spPr>
        <p:txBody>
          <a:bodyPr wrap="square" lIns="0" tIns="0" rIns="0" bIns="0" rtlCol="0" anchor="ctr"/>
          <a:lstStyle/>
          <a:p>
            <a:pPr indent="0" marL="0">
              <a:lnSpc>
                <a:spcPts val="2700"/>
              </a:lnSpc>
              <a:buNone/>
            </a:pPr>
            <a:r>
              <a:rPr lang="en-US" sz="1900" i="1" dirty="0">
                <a:solidFill>
                  <a:srgbClr val="FFFFFF"/>
                </a:solidFill>
                <a:latin typeface="Georgia" pitchFamily="34" charset="0"/>
                <a:ea typeface="Georgia" pitchFamily="34" charset="-122"/>
                <a:cs typeface="Georgia" pitchFamily="34" charset="-120"/>
              </a:rPr>
              <a:t>“We’re neighbors who build simple tools for local government. We meet Tuesdays.”</a:t>
            </a:r>
            <a:endParaRPr lang="en-US" sz="1900" dirty="0"/>
          </a:p>
        </p:txBody>
      </p:sp>
      <p:sp>
        <p:nvSpPr>
          <p:cNvPr id="15" name="Text 13"/>
          <p:cNvSpPr txBox="1"/>
          <p:nvPr/>
        </p:nvSpPr>
        <p:spPr>
          <a:xfrm>
            <a:off x="6967728" y="3840480"/>
            <a:ext cx="4297680" cy="192024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That’s Tier 2. No lexicon term appears anywhere. But they were on a civic tech roster, they build tools for public institutions, and they’d pass every screening criterion.</a:t>
            </a:r>
            <a:endParaRPr lang="en-US" sz="1250" dirty="0"/>
          </a:p>
          <a:p>
            <a:pPr indent="0" marL="0">
              <a:lnSpc>
                <a:spcPts val="1800"/>
              </a:lnSpc>
              <a:buNone/>
            </a:pPr>
            <a:endParaRPr lang="en-US" sz="1250" dirty="0"/>
          </a:p>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They stay in, they get coded on everything, and their phrase goes in nonlexicon_self_description — verbatim, exactly as written. Do not tidy it into “civic tech volunteers.” That phrase is data.</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The four framework dimensions</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6B7A75"/>
                </a:solidFill>
                <a:latin typeface="Calibri" pitchFamily="34" charset="0"/>
                <a:ea typeface="Calibri" pitchFamily="34" charset="-122"/>
                <a:cs typeface="Calibri" pitchFamily="34" charset="-120"/>
              </a:rPr>
              <a:t>The same four we code on the literature side, so we can compare what the field writes against what the field does.</a:t>
            </a:r>
            <a:endParaRPr lang="en-US" sz="1450" dirty="0"/>
          </a:p>
        </p:txBody>
      </p:sp>
      <p:sp>
        <p:nvSpPr>
          <p:cNvPr id="5" name="Shape 3"/>
          <p:cNvSpPr/>
          <p:nvPr/>
        </p:nvSpPr>
        <p:spPr>
          <a:xfrm>
            <a:off x="640080" y="1874520"/>
            <a:ext cx="10911535" cy="896112"/>
          </a:xfrm>
          <a:prstGeom prst="roundRect">
            <a:avLst>
              <a:gd name="adj" fmla="val 7143"/>
            </a:avLst>
          </a:prstGeom>
          <a:solidFill>
            <a:srgbClr val="FFFFFF"/>
          </a:solidFill>
          <a:ln w="12700">
            <a:solidFill>
              <a:srgbClr val="E4DDD1"/>
            </a:solidFill>
            <a:prstDash val="solid"/>
          </a:ln>
        </p:spPr>
      </p:sp>
      <p:sp>
        <p:nvSpPr>
          <p:cNvPr id="6" name="Text 4"/>
          <p:cNvSpPr txBox="1"/>
          <p:nvPr/>
        </p:nvSpPr>
        <p:spPr>
          <a:xfrm>
            <a:off x="932688" y="2093976"/>
            <a:ext cx="3931920" cy="365760"/>
          </a:xfrm>
          <a:prstGeom prst="rect">
            <a:avLst/>
          </a:prstGeom>
          <a:noFill/>
          <a:ln/>
        </p:spPr>
        <p:txBody>
          <a:bodyPr wrap="square" lIns="0" tIns="0" rIns="0" bIns="0" rtlCol="0" anchor="ctr"/>
          <a:lstStyle/>
          <a:p>
            <a:pPr indent="0" marL="0">
              <a:buNone/>
            </a:pPr>
            <a:r>
              <a:rPr lang="en-US" sz="1400" b="1" dirty="0">
                <a:solidFill>
                  <a:srgbClr val="B5563C"/>
                </a:solidFill>
                <a:latin typeface="Calibri" pitchFamily="34" charset="0"/>
                <a:ea typeface="Calibri" pitchFamily="34" charset="-122"/>
                <a:cs typeface="Calibri" pitchFamily="34" charset="-120"/>
              </a:rPr>
              <a:t>who_participates</a:t>
            </a:r>
            <a:endParaRPr lang="en-US" sz="1400" dirty="0"/>
          </a:p>
        </p:txBody>
      </p:sp>
      <p:sp>
        <p:nvSpPr>
          <p:cNvPr id="7" name="Text 5"/>
          <p:cNvSpPr txBox="1"/>
          <p:nvPr/>
        </p:nvSpPr>
        <p:spPr>
          <a:xfrm>
            <a:off x="5120640" y="2075688"/>
            <a:ext cx="6156655" cy="548640"/>
          </a:xfrm>
          <a:prstGeom prst="rect">
            <a:avLst/>
          </a:prstGeom>
          <a:noFill/>
          <a:ln/>
        </p:spPr>
        <p:txBody>
          <a:bodyPr wrap="square" lIns="0" tIns="0" rIns="0" bIns="0" rtlCol="0" anchor="ctr"/>
          <a:lstStyle/>
          <a:p>
            <a:pPr indent="0" marL="0">
              <a:lnSpc>
                <a:spcPts val="1800"/>
              </a:lnSpc>
              <a:buNone/>
            </a:pPr>
            <a:r>
              <a:rPr lang="en-US" sz="1300" dirty="0">
                <a:solidFill>
                  <a:srgbClr val="1B3330"/>
                </a:solidFill>
                <a:latin typeface="Calibri" pitchFamily="34" charset="0"/>
                <a:ea typeface="Calibri" pitchFamily="34" charset="-122"/>
                <a:cs typeface="Calibri" pitchFamily="34" charset="-120"/>
              </a:rPr>
              <a:t>Who the organization treats as taking part in its work.</a:t>
            </a:r>
            <a:endParaRPr lang="en-US" sz="1300" dirty="0"/>
          </a:p>
        </p:txBody>
      </p:sp>
      <p:sp>
        <p:nvSpPr>
          <p:cNvPr id="8" name="Shape 6"/>
          <p:cNvSpPr/>
          <p:nvPr/>
        </p:nvSpPr>
        <p:spPr>
          <a:xfrm>
            <a:off x="640080" y="2880360"/>
            <a:ext cx="10911535" cy="896112"/>
          </a:xfrm>
          <a:prstGeom prst="roundRect">
            <a:avLst>
              <a:gd name="adj" fmla="val 7143"/>
            </a:avLst>
          </a:prstGeom>
          <a:solidFill>
            <a:srgbClr val="FFFFFF"/>
          </a:solidFill>
          <a:ln w="12700">
            <a:solidFill>
              <a:srgbClr val="E4DDD1"/>
            </a:solidFill>
            <a:prstDash val="solid"/>
          </a:ln>
        </p:spPr>
      </p:sp>
      <p:sp>
        <p:nvSpPr>
          <p:cNvPr id="9" name="Text 7"/>
          <p:cNvSpPr txBox="1"/>
          <p:nvPr/>
        </p:nvSpPr>
        <p:spPr>
          <a:xfrm>
            <a:off x="932688" y="3099816"/>
            <a:ext cx="3931920" cy="365760"/>
          </a:xfrm>
          <a:prstGeom prst="rect">
            <a:avLst/>
          </a:prstGeom>
          <a:noFill/>
          <a:ln/>
        </p:spPr>
        <p:txBody>
          <a:bodyPr wrap="square" lIns="0" tIns="0" rIns="0" bIns="0" rtlCol="0" anchor="ctr"/>
          <a:lstStyle/>
          <a:p>
            <a:pPr indent="0" marL="0">
              <a:buNone/>
            </a:pPr>
            <a:r>
              <a:rPr lang="en-US" sz="1400" b="1" dirty="0">
                <a:solidFill>
                  <a:srgbClr val="B5563C"/>
                </a:solidFill>
                <a:latin typeface="Calibri" pitchFamily="34" charset="0"/>
                <a:ea typeface="Calibri" pitchFamily="34" charset="-122"/>
                <a:cs typeface="Calibri" pitchFamily="34" charset="-120"/>
              </a:rPr>
              <a:t>who_benefits</a:t>
            </a:r>
            <a:endParaRPr lang="en-US" sz="1400" dirty="0"/>
          </a:p>
        </p:txBody>
      </p:sp>
      <p:sp>
        <p:nvSpPr>
          <p:cNvPr id="10" name="Text 8"/>
          <p:cNvSpPr txBox="1"/>
          <p:nvPr/>
        </p:nvSpPr>
        <p:spPr>
          <a:xfrm>
            <a:off x="5120640" y="3081528"/>
            <a:ext cx="6156655" cy="548640"/>
          </a:xfrm>
          <a:prstGeom prst="rect">
            <a:avLst/>
          </a:prstGeom>
          <a:noFill/>
          <a:ln/>
        </p:spPr>
        <p:txBody>
          <a:bodyPr wrap="square" lIns="0" tIns="0" rIns="0" bIns="0" rtlCol="0" anchor="ctr"/>
          <a:lstStyle/>
          <a:p>
            <a:pPr indent="0" marL="0">
              <a:lnSpc>
                <a:spcPts val="1800"/>
              </a:lnSpc>
              <a:buNone/>
            </a:pPr>
            <a:r>
              <a:rPr lang="en-US" sz="1300" dirty="0">
                <a:solidFill>
                  <a:srgbClr val="1B3330"/>
                </a:solidFill>
                <a:latin typeface="Calibri" pitchFamily="34" charset="0"/>
                <a:ea typeface="Calibri" pitchFamily="34" charset="-122"/>
                <a:cs typeface="Calibri" pitchFamily="34" charset="-120"/>
              </a:rPr>
              <a:t>Who the work is understood to be for.</a:t>
            </a:r>
            <a:endParaRPr lang="en-US" sz="1300" dirty="0"/>
          </a:p>
        </p:txBody>
      </p:sp>
      <p:sp>
        <p:nvSpPr>
          <p:cNvPr id="11" name="Shape 9"/>
          <p:cNvSpPr/>
          <p:nvPr/>
        </p:nvSpPr>
        <p:spPr>
          <a:xfrm>
            <a:off x="640080" y="3886200"/>
            <a:ext cx="10911535" cy="896112"/>
          </a:xfrm>
          <a:prstGeom prst="roundRect">
            <a:avLst>
              <a:gd name="adj" fmla="val 7143"/>
            </a:avLst>
          </a:prstGeom>
          <a:solidFill>
            <a:srgbClr val="FFFFFF"/>
          </a:solidFill>
          <a:ln w="12700">
            <a:solidFill>
              <a:srgbClr val="E4DDD1"/>
            </a:solidFill>
            <a:prstDash val="solid"/>
          </a:ln>
        </p:spPr>
      </p:sp>
      <p:sp>
        <p:nvSpPr>
          <p:cNvPr id="12" name="Text 10"/>
          <p:cNvSpPr txBox="1"/>
          <p:nvPr/>
        </p:nvSpPr>
        <p:spPr>
          <a:xfrm>
            <a:off x="932688" y="4105656"/>
            <a:ext cx="3931920" cy="365760"/>
          </a:xfrm>
          <a:prstGeom prst="rect">
            <a:avLst/>
          </a:prstGeom>
          <a:noFill/>
          <a:ln/>
        </p:spPr>
        <p:txBody>
          <a:bodyPr wrap="square" lIns="0" tIns="0" rIns="0" bIns="0" rtlCol="0" anchor="ctr"/>
          <a:lstStyle/>
          <a:p>
            <a:pPr indent="0" marL="0">
              <a:buNone/>
            </a:pPr>
            <a:r>
              <a:rPr lang="en-US" sz="1400" b="1" dirty="0">
                <a:solidFill>
                  <a:srgbClr val="B5563C"/>
                </a:solidFill>
                <a:latin typeface="Calibri" pitchFamily="34" charset="0"/>
                <a:ea typeface="Calibri" pitchFamily="34" charset="-122"/>
                <a:cs typeface="Calibri" pitchFamily="34" charset="-120"/>
              </a:rPr>
              <a:t>what_social_good_and_who_decides</a:t>
            </a:r>
            <a:endParaRPr lang="en-US" sz="1400" dirty="0"/>
          </a:p>
        </p:txBody>
      </p:sp>
      <p:sp>
        <p:nvSpPr>
          <p:cNvPr id="13" name="Text 11"/>
          <p:cNvSpPr txBox="1"/>
          <p:nvPr/>
        </p:nvSpPr>
        <p:spPr>
          <a:xfrm>
            <a:off x="5120640" y="4087368"/>
            <a:ext cx="6156655" cy="548640"/>
          </a:xfrm>
          <a:prstGeom prst="rect">
            <a:avLst/>
          </a:prstGeom>
          <a:noFill/>
          <a:ln/>
        </p:spPr>
        <p:txBody>
          <a:bodyPr wrap="square" lIns="0" tIns="0" rIns="0" bIns="0" rtlCol="0" anchor="ctr"/>
          <a:lstStyle/>
          <a:p>
            <a:pPr indent="0" marL="0">
              <a:lnSpc>
                <a:spcPts val="1800"/>
              </a:lnSpc>
              <a:buNone/>
            </a:pPr>
            <a:r>
              <a:rPr lang="en-US" sz="1300" dirty="0">
                <a:solidFill>
                  <a:srgbClr val="1B3330"/>
                </a:solidFill>
                <a:latin typeface="Calibri" pitchFamily="34" charset="0"/>
                <a:ea typeface="Calibri" pitchFamily="34" charset="-122"/>
                <a:cs typeface="Calibri" pitchFamily="34" charset="-120"/>
              </a:rPr>
              <a:t>How the organization defines the good it pursues, and who is positioned to decide that. One field, not two.</a:t>
            </a:r>
            <a:endParaRPr lang="en-US" sz="1300" dirty="0"/>
          </a:p>
        </p:txBody>
      </p:sp>
      <p:sp>
        <p:nvSpPr>
          <p:cNvPr id="14" name="Shape 12"/>
          <p:cNvSpPr/>
          <p:nvPr/>
        </p:nvSpPr>
        <p:spPr>
          <a:xfrm>
            <a:off x="640080" y="4892040"/>
            <a:ext cx="10911535" cy="896112"/>
          </a:xfrm>
          <a:prstGeom prst="roundRect">
            <a:avLst>
              <a:gd name="adj" fmla="val 7143"/>
            </a:avLst>
          </a:prstGeom>
          <a:solidFill>
            <a:srgbClr val="FFFFFF"/>
          </a:solidFill>
          <a:ln w="12700">
            <a:solidFill>
              <a:srgbClr val="E4DDD1"/>
            </a:solidFill>
            <a:prstDash val="solid"/>
          </a:ln>
        </p:spPr>
      </p:sp>
      <p:sp>
        <p:nvSpPr>
          <p:cNvPr id="15" name="Text 13"/>
          <p:cNvSpPr txBox="1"/>
          <p:nvPr/>
        </p:nvSpPr>
        <p:spPr>
          <a:xfrm>
            <a:off x="932688" y="5111496"/>
            <a:ext cx="3931920" cy="365760"/>
          </a:xfrm>
          <a:prstGeom prst="rect">
            <a:avLst/>
          </a:prstGeom>
          <a:noFill/>
          <a:ln/>
        </p:spPr>
        <p:txBody>
          <a:bodyPr wrap="square" lIns="0" tIns="0" rIns="0" bIns="0" rtlCol="0" anchor="ctr"/>
          <a:lstStyle/>
          <a:p>
            <a:pPr indent="0" marL="0">
              <a:buNone/>
            </a:pPr>
            <a:r>
              <a:rPr lang="en-US" sz="1400" b="1" dirty="0">
                <a:solidFill>
                  <a:srgbClr val="B5563C"/>
                </a:solidFill>
                <a:latin typeface="Calibri" pitchFamily="34" charset="0"/>
                <a:ea typeface="Calibri" pitchFamily="34" charset="-122"/>
                <a:cs typeface="Calibri" pitchFamily="34" charset="-120"/>
              </a:rPr>
              <a:t>what_counts_as_technology</a:t>
            </a:r>
            <a:endParaRPr lang="en-US" sz="1400" dirty="0"/>
          </a:p>
        </p:txBody>
      </p:sp>
      <p:sp>
        <p:nvSpPr>
          <p:cNvPr id="16" name="Text 14"/>
          <p:cNvSpPr txBox="1"/>
          <p:nvPr/>
        </p:nvSpPr>
        <p:spPr>
          <a:xfrm>
            <a:off x="5120640" y="5093208"/>
            <a:ext cx="6156655" cy="548640"/>
          </a:xfrm>
          <a:prstGeom prst="rect">
            <a:avLst/>
          </a:prstGeom>
          <a:noFill/>
          <a:ln/>
        </p:spPr>
        <p:txBody>
          <a:bodyPr wrap="square" lIns="0" tIns="0" rIns="0" bIns="0" rtlCol="0" anchor="ctr"/>
          <a:lstStyle/>
          <a:p>
            <a:pPr indent="0" marL="0">
              <a:lnSpc>
                <a:spcPts val="1800"/>
              </a:lnSpc>
              <a:buNone/>
            </a:pPr>
            <a:r>
              <a:rPr lang="en-US" sz="1300" dirty="0">
                <a:solidFill>
                  <a:srgbClr val="1B3330"/>
                </a:solidFill>
                <a:latin typeface="Calibri" pitchFamily="34" charset="0"/>
                <a:ea typeface="Calibri" pitchFamily="34" charset="-122"/>
                <a:cs typeface="Calibri" pitchFamily="34" charset="-120"/>
              </a:rPr>
              <a:t>What the organization treats as the relevant technology of its work. Conceptual scope, not tooling.</a:t>
            </a:r>
            <a:endParaRPr lang="en-US" sz="1300" dirty="0"/>
          </a:p>
        </p:txBody>
      </p:sp>
      <p:sp>
        <p:nvSpPr>
          <p:cNvPr id="17" name="Text 15"/>
          <p:cNvSpPr txBox="1"/>
          <p:nvPr/>
        </p:nvSpPr>
        <p:spPr>
          <a:xfrm>
            <a:off x="640080" y="5943600"/>
            <a:ext cx="10911535" cy="457200"/>
          </a:xfrm>
          <a:prstGeom prst="rect">
            <a:avLst/>
          </a:prstGeom>
          <a:noFill/>
          <a:ln/>
        </p:spPr>
        <p:txBody>
          <a:bodyPr wrap="square" rtlCol="0" anchor="ctr"/>
          <a:lstStyle/>
          <a:p>
            <a:pPr indent="0" marL="0">
              <a:buNone/>
            </a:pPr>
            <a:r>
              <a:rPr lang="en-US" sz="1300" i="1" dirty="0">
                <a:solidFill>
                  <a:srgbClr val="6B7A75"/>
                </a:solidFill>
                <a:latin typeface="Calibri" pitchFamily="34" charset="0"/>
                <a:ea typeface="Calibri" pitchFamily="34" charset="-122"/>
                <a:cs typeface="Calibri" pitchFamily="34" charset="-120"/>
              </a:rPr>
              <a:t>Adapted from Arnstein’s (1969) ladder of citizen participation — a shared analytic axis, a way of asking the same questions of everyone, not a scale that ranks anybody.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330"/>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FFFFFF"/>
                </a:solidFill>
                <a:latin typeface="Georgia" pitchFamily="34" charset="0"/>
                <a:ea typeface="Georgia" pitchFamily="34" charset="-122"/>
                <a:cs typeface="Georgia" pitchFamily="34" charset="-120"/>
              </a:rPr>
              <a:t>Step 9 — Two things change, and they matter</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Text 2"/>
          <p:cNvSpPr txBox="1"/>
          <p:nvPr/>
        </p:nvSpPr>
        <p:spPr>
          <a:xfrm>
            <a:off x="640080" y="1335024"/>
            <a:ext cx="10637215" cy="457200"/>
          </a:xfrm>
          <a:prstGeom prst="rect">
            <a:avLst/>
          </a:prstGeom>
          <a:noFill/>
          <a:ln/>
        </p:spPr>
        <p:txBody>
          <a:bodyPr wrap="square" rtlCol="0" anchor="ctr"/>
          <a:lstStyle/>
          <a:p>
            <a:pPr indent="0" marL="0">
              <a:buNone/>
            </a:pPr>
            <a:r>
              <a:rPr lang="en-US" sz="1450" i="1" dirty="0">
                <a:solidFill>
                  <a:srgbClr val="D8D2C6"/>
                </a:solidFill>
                <a:latin typeface="Calibri" pitchFamily="34" charset="0"/>
                <a:ea typeface="Calibri" pitchFamily="34" charset="-122"/>
                <a:cs typeface="Calibri" pitchFamily="34" charset="-120"/>
              </a:rPr>
              <a:t>From here on, the way you work is different from calibration.</a:t>
            </a:r>
            <a:endParaRPr lang="en-US" sz="1450" dirty="0"/>
          </a:p>
        </p:txBody>
      </p:sp>
      <p:sp>
        <p:nvSpPr>
          <p:cNvPr id="5" name="Shape 3"/>
          <p:cNvSpPr/>
          <p:nvPr/>
        </p:nvSpPr>
        <p:spPr>
          <a:xfrm>
            <a:off x="640080" y="1965960"/>
            <a:ext cx="5295748" cy="3566160"/>
          </a:xfrm>
          <a:prstGeom prst="roundRect">
            <a:avLst>
              <a:gd name="adj" fmla="val 1795"/>
            </a:avLst>
          </a:prstGeom>
          <a:solidFill>
            <a:srgbClr val="26433E"/>
          </a:solidFill>
          <a:ln w="12700">
            <a:solidFill>
              <a:srgbClr val="31514B"/>
            </a:solidFill>
            <a:prstDash val="solid"/>
          </a:ln>
        </p:spPr>
      </p:sp>
      <p:sp>
        <p:nvSpPr>
          <p:cNvPr id="6" name="Text 4"/>
          <p:cNvSpPr txBox="1"/>
          <p:nvPr/>
        </p:nvSpPr>
        <p:spPr>
          <a:xfrm>
            <a:off x="960120" y="2194560"/>
            <a:ext cx="1828800" cy="274320"/>
          </a:xfrm>
          <a:prstGeom prst="rect">
            <a:avLst/>
          </a:prstGeom>
          <a:noFill/>
          <a:ln/>
        </p:spPr>
        <p:txBody>
          <a:bodyPr wrap="square" lIns="0" tIns="0" rIns="0" bIns="0" rtlCol="0" anchor="ctr"/>
          <a:lstStyle/>
          <a:p>
            <a:pPr indent="0" marL="0">
              <a:buNone/>
            </a:pPr>
            <a:r>
              <a:rPr lang="en-US" sz="1100" b="1" spc="150" kern="0" dirty="0">
                <a:solidFill>
                  <a:srgbClr val="B5563C"/>
                </a:solidFill>
                <a:latin typeface="Calibri" pitchFamily="34" charset="0"/>
                <a:ea typeface="Calibri" pitchFamily="34" charset="-122"/>
                <a:cs typeface="Calibri" pitchFamily="34" charset="-120"/>
              </a:rPr>
              <a:t>First</a:t>
            </a:r>
            <a:endParaRPr lang="en-US" sz="1100" dirty="0"/>
          </a:p>
        </p:txBody>
      </p:sp>
      <p:sp>
        <p:nvSpPr>
          <p:cNvPr id="7" name="Text 5"/>
          <p:cNvSpPr txBox="1"/>
          <p:nvPr/>
        </p:nvSpPr>
        <p:spPr>
          <a:xfrm>
            <a:off x="960120" y="2523744"/>
            <a:ext cx="4846320" cy="1005840"/>
          </a:xfrm>
          <a:prstGeom prst="rect">
            <a:avLst/>
          </a:prstGeom>
          <a:noFill/>
          <a:ln/>
        </p:spPr>
        <p:txBody>
          <a:bodyPr wrap="square" lIns="0" tIns="0" rIns="0" bIns="0" rtlCol="0" anchor="ctr"/>
          <a:lstStyle/>
          <a:p>
            <a:pPr indent="0" marL="0">
              <a:lnSpc>
                <a:spcPts val="2300"/>
              </a:lnSpc>
              <a:buNone/>
            </a:pPr>
            <a:r>
              <a:rPr lang="en-US" sz="1700" b="1" dirty="0">
                <a:solidFill>
                  <a:srgbClr val="FFFFFF"/>
                </a:solidFill>
                <a:latin typeface="Georgia" pitchFamily="34" charset="0"/>
                <a:ea typeface="Georgia" pitchFamily="34" charset="-122"/>
                <a:cs typeface="Georgia" pitchFamily="34" charset="-120"/>
              </a:rPr>
              <a:t>Akshita and Carmen code independently and do not discuss records with each other.</a:t>
            </a:r>
            <a:endParaRPr lang="en-US" sz="1700" dirty="0"/>
          </a:p>
        </p:txBody>
      </p:sp>
      <p:sp>
        <p:nvSpPr>
          <p:cNvPr id="8" name="Text 6"/>
          <p:cNvSpPr txBox="1"/>
          <p:nvPr/>
        </p:nvSpPr>
        <p:spPr>
          <a:xfrm>
            <a:off x="960120" y="3611880"/>
            <a:ext cx="4846320" cy="17830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You each code every record on your own, and Jon resolves the disagreements.</a:t>
            </a:r>
            <a:endParaRPr lang="en-US" sz="1250" dirty="0"/>
          </a:p>
          <a:p>
            <a:pPr indent="0" marL="0">
              <a:lnSpc>
                <a:spcPts val="1800"/>
              </a:lnSpc>
              <a:buNone/>
            </a:pPr>
            <a:endParaRPr lang="en-US" sz="1250" dirty="0"/>
          </a:p>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This will feel unhelpful and it is the entire point — if you talk it through first, your answers agree because you talked, and the agreement numbers we report stop meaning anything.</a:t>
            </a:r>
            <a:endParaRPr lang="en-US" sz="1250" dirty="0"/>
          </a:p>
          <a:p>
            <a:pPr indent="0" marL="0">
              <a:lnSpc>
                <a:spcPts val="1800"/>
              </a:lnSpc>
              <a:buNone/>
            </a:pPr>
            <a:endParaRPr lang="en-US" sz="1250" dirty="0"/>
          </a:p>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Ask Jon, not each other.</a:t>
            </a:r>
            <a:endParaRPr lang="en-US" sz="1250" dirty="0"/>
          </a:p>
        </p:txBody>
      </p:sp>
      <p:sp>
        <p:nvSpPr>
          <p:cNvPr id="9" name="Shape 7"/>
          <p:cNvSpPr/>
          <p:nvPr/>
        </p:nvSpPr>
        <p:spPr>
          <a:xfrm>
            <a:off x="6255868" y="1965960"/>
            <a:ext cx="5295748" cy="3566160"/>
          </a:xfrm>
          <a:prstGeom prst="roundRect">
            <a:avLst>
              <a:gd name="adj" fmla="val 1795"/>
            </a:avLst>
          </a:prstGeom>
          <a:solidFill>
            <a:srgbClr val="26433E"/>
          </a:solidFill>
          <a:ln w="12700">
            <a:solidFill>
              <a:srgbClr val="31514B"/>
            </a:solidFill>
            <a:prstDash val="solid"/>
          </a:ln>
        </p:spPr>
      </p:sp>
      <p:sp>
        <p:nvSpPr>
          <p:cNvPr id="10" name="Text 8"/>
          <p:cNvSpPr txBox="1"/>
          <p:nvPr/>
        </p:nvSpPr>
        <p:spPr>
          <a:xfrm>
            <a:off x="6575908" y="2194560"/>
            <a:ext cx="1828800" cy="274320"/>
          </a:xfrm>
          <a:prstGeom prst="rect">
            <a:avLst/>
          </a:prstGeom>
          <a:noFill/>
          <a:ln/>
        </p:spPr>
        <p:txBody>
          <a:bodyPr wrap="square" lIns="0" tIns="0" rIns="0" bIns="0" rtlCol="0" anchor="ctr"/>
          <a:lstStyle/>
          <a:p>
            <a:pPr indent="0" marL="0">
              <a:buNone/>
            </a:pPr>
            <a:r>
              <a:rPr lang="en-US" sz="1100" b="1" spc="150" kern="0" dirty="0">
                <a:solidFill>
                  <a:srgbClr val="B5563C"/>
                </a:solidFill>
                <a:latin typeface="Calibri" pitchFamily="34" charset="0"/>
                <a:ea typeface="Calibri" pitchFamily="34" charset="-122"/>
                <a:cs typeface="Calibri" pitchFamily="34" charset="-120"/>
              </a:rPr>
              <a:t>Second</a:t>
            </a:r>
            <a:endParaRPr lang="en-US" sz="1100" dirty="0"/>
          </a:p>
        </p:txBody>
      </p:sp>
      <p:sp>
        <p:nvSpPr>
          <p:cNvPr id="11" name="Text 9"/>
          <p:cNvSpPr txBox="1"/>
          <p:nvPr/>
        </p:nvSpPr>
        <p:spPr>
          <a:xfrm>
            <a:off x="6575908" y="2523744"/>
            <a:ext cx="4846320" cy="1005840"/>
          </a:xfrm>
          <a:prstGeom prst="rect">
            <a:avLst/>
          </a:prstGeom>
          <a:noFill/>
          <a:ln/>
        </p:spPr>
        <p:txBody>
          <a:bodyPr wrap="square" lIns="0" tIns="0" rIns="0" bIns="0" rtlCol="0" anchor="ctr"/>
          <a:lstStyle/>
          <a:p>
            <a:pPr indent="0" marL="0">
              <a:lnSpc>
                <a:spcPts val="2300"/>
              </a:lnSpc>
              <a:buNone/>
            </a:pPr>
            <a:r>
              <a:rPr lang="en-US" sz="1700" b="1" dirty="0">
                <a:solidFill>
                  <a:srgbClr val="FFFFFF"/>
                </a:solidFill>
                <a:latin typeface="Georgia" pitchFamily="34" charset="0"/>
                <a:ea typeface="Georgia" pitchFamily="34" charset="-122"/>
                <a:cs typeface="Georgia" pitchFamily="34" charset="-120"/>
              </a:rPr>
              <a:t>An AI model also codes those same fields, blind.</a:t>
            </a:r>
            <a:endParaRPr lang="en-US" sz="1700" dirty="0"/>
          </a:p>
        </p:txBody>
      </p:sp>
      <p:sp>
        <p:nvSpPr>
          <p:cNvPr id="12" name="Text 10"/>
          <p:cNvSpPr txBox="1"/>
          <p:nvPr/>
        </p:nvSpPr>
        <p:spPr>
          <a:xfrm>
            <a:off x="6575908" y="3611880"/>
            <a:ext cx="4846320" cy="1783080"/>
          </a:xfrm>
          <a:prstGeom prst="rect">
            <a:avLst/>
          </a:prstGeom>
          <a:noFill/>
          <a:ln/>
        </p:spPr>
        <p:txBody>
          <a:bodyPr wrap="square" lIns="0" tIns="0" rIns="0" bIns="0" rtlCol="0" anchor="ctr"/>
          <a:lstStyle/>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Its answers are withheld from all three of us until the human answer is final. Do not go looking for them.</a:t>
            </a:r>
            <a:endParaRPr lang="en-US" sz="1250" dirty="0"/>
          </a:p>
          <a:p>
            <a:pPr indent="0" marL="0">
              <a:lnSpc>
                <a:spcPts val="1800"/>
              </a:lnSpc>
              <a:buNone/>
            </a:pPr>
            <a:endParaRPr lang="en-US" sz="1250" dirty="0"/>
          </a:p>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If you saw the model’s answer before coding, your judgment and Carmen’s would both be shaped by it, and the agreement number would be measuring the model rather than us.</a:t>
            </a:r>
            <a:endParaRPr lang="en-US" sz="1250" dirty="0"/>
          </a:p>
          <a:p>
            <a:pPr indent="0" marL="0">
              <a:lnSpc>
                <a:spcPts val="1800"/>
              </a:lnSpc>
              <a:buNone/>
            </a:pPr>
            <a:endParaRPr lang="en-US" sz="1250" dirty="0"/>
          </a:p>
          <a:p>
            <a:pPr indent="0" marL="0">
              <a:lnSpc>
                <a:spcPts val="1800"/>
              </a:lnSpc>
              <a:buNone/>
            </a:pPr>
            <a:r>
              <a:rPr lang="en-US" sz="1250" dirty="0">
                <a:solidFill>
                  <a:srgbClr val="D8D2C6"/>
                </a:solidFill>
                <a:latin typeface="Calibri" pitchFamily="34" charset="0"/>
                <a:ea typeface="Calibri" pitchFamily="34" charset="-122"/>
                <a:cs typeface="Calibri" pitchFamily="34" charset="-120"/>
              </a:rPr>
              <a:t>We report the model’s agreement separately, as a check on the model.</a:t>
            </a:r>
            <a:endParaRPr lang="en-US" sz="1250" dirty="0"/>
          </a:p>
        </p:txBody>
      </p:sp>
      <p:sp>
        <p:nvSpPr>
          <p:cNvPr id="13" name="Text 11"/>
          <p:cNvSpPr txBox="1"/>
          <p:nvPr/>
        </p:nvSpPr>
        <p:spPr>
          <a:xfrm>
            <a:off x="640080" y="6327648"/>
            <a:ext cx="10911535" cy="292608"/>
          </a:xfrm>
          <a:prstGeom prst="rect">
            <a:avLst/>
          </a:prstGeom>
          <a:noFill/>
          <a:ln/>
        </p:spPr>
        <p:txBody>
          <a:bodyPr wrap="square" rtlCol="0" anchor="ctr"/>
          <a:lstStyle/>
          <a:p>
            <a:pPr indent="0" marL="0">
              <a:buNone/>
            </a:pPr>
            <a:r>
              <a:rPr lang="en-US" sz="1050" i="1" dirty="0">
                <a:solidFill>
                  <a:srgbClr val="9AA8A3"/>
                </a:solidFill>
                <a:latin typeface="Calibri" pitchFamily="34" charset="0"/>
                <a:ea typeface="Calibri" pitchFamily="34" charset="-122"/>
                <a:cs typeface="Calibri" pitchFamily="34" charset="-120"/>
              </a:rPr>
              <a:t>Also: from here on we stop at the first screening failure, and record which criterion it was.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685800"/>
          </a:xfrm>
          <a:prstGeom prst="rect">
            <a:avLst/>
          </a:prstGeom>
          <a:noFill/>
          <a:ln/>
        </p:spPr>
        <p:txBody>
          <a:bodyPr wrap="square" rtlCol="0" anchor="ctr"/>
          <a:lstStyle/>
          <a:p>
            <a:pPr indent="0" marL="0">
              <a:buNone/>
            </a:pPr>
            <a:r>
              <a:rPr lang="en-US" sz="3100" b="1" dirty="0">
                <a:solidFill>
                  <a:srgbClr val="1B3330"/>
                </a:solidFill>
                <a:latin typeface="Georgia" pitchFamily="34" charset="0"/>
                <a:ea typeface="Georgia" pitchFamily="34" charset="-122"/>
                <a:cs typeface="Georgia" pitchFamily="34" charset="-120"/>
              </a:rPr>
              <a:t>Step 10 — The stopping rule</a:t>
            </a:r>
            <a:endParaRPr lang="en-US" sz="3100" dirty="0"/>
          </a:p>
        </p:txBody>
      </p:sp>
      <p:sp>
        <p:nvSpPr>
          <p:cNvPr id="3" name="Shape 1"/>
          <p:cNvSpPr/>
          <p:nvPr/>
        </p:nvSpPr>
        <p:spPr>
          <a:xfrm>
            <a:off x="640080" y="1188720"/>
            <a:ext cx="777240" cy="41148"/>
          </a:xfrm>
          <a:prstGeom prst="rect">
            <a:avLst/>
          </a:prstGeom>
          <a:solidFill>
            <a:srgbClr val="B5563C"/>
          </a:solidFill>
          <a:ln w="12700">
            <a:solidFill>
              <a:srgbClr val="333333"/>
            </a:solidFill>
            <a:prstDash val="solid"/>
          </a:ln>
        </p:spPr>
      </p:sp>
      <p:sp>
        <p:nvSpPr>
          <p:cNvPr id="4" name="Shape 2"/>
          <p:cNvSpPr/>
          <p:nvPr/>
        </p:nvSpPr>
        <p:spPr>
          <a:xfrm>
            <a:off x="640080" y="1783080"/>
            <a:ext cx="6400800" cy="4069080"/>
          </a:xfrm>
          <a:prstGeom prst="roundRect">
            <a:avLst>
              <a:gd name="adj" fmla="val 1573"/>
            </a:avLst>
          </a:prstGeom>
          <a:solidFill>
            <a:srgbClr val="FFFFFF"/>
          </a:solidFill>
          <a:ln w="12700">
            <a:solidFill>
              <a:srgbClr val="E4DDD1"/>
            </a:solidFill>
            <a:prstDash val="solid"/>
          </a:ln>
        </p:spPr>
      </p:sp>
      <p:sp>
        <p:nvSpPr>
          <p:cNvPr id="5" name="Text 3"/>
          <p:cNvSpPr txBox="1"/>
          <p:nvPr/>
        </p:nvSpPr>
        <p:spPr>
          <a:xfrm>
            <a:off x="960120" y="2011680"/>
            <a:ext cx="5669280" cy="320040"/>
          </a:xfrm>
          <a:prstGeom prst="rect">
            <a:avLst/>
          </a:prstGeom>
          <a:noFill/>
          <a:ln/>
        </p:spPr>
        <p:txBody>
          <a:bodyPr wrap="square" lIns="0" tIns="0" rIns="0" bIns="0" rtlCol="0" anchor="ctr"/>
          <a:lstStyle/>
          <a:p>
            <a:pPr indent="0" marL="0">
              <a:buNone/>
            </a:pPr>
            <a:r>
              <a:rPr lang="en-US" sz="1400" dirty="0">
                <a:solidFill>
                  <a:srgbClr val="6B7A75"/>
                </a:solidFill>
                <a:latin typeface="Calibri" pitchFamily="34" charset="0"/>
                <a:ea typeface="Calibri" pitchFamily="34" charset="-122"/>
                <a:cs typeface="Calibri" pitchFamily="34" charset="-120"/>
              </a:rPr>
              <a:t>Within a block, we code organizations until</a:t>
            </a:r>
            <a:endParaRPr lang="en-US" sz="1400" dirty="0"/>
          </a:p>
        </p:txBody>
      </p:sp>
      <p:sp>
        <p:nvSpPr>
          <p:cNvPr id="6" name="Text 4"/>
          <p:cNvSpPr txBox="1"/>
          <p:nvPr/>
        </p:nvSpPr>
        <p:spPr>
          <a:xfrm>
            <a:off x="960120" y="2359152"/>
            <a:ext cx="5669280" cy="777240"/>
          </a:xfrm>
          <a:prstGeom prst="rect">
            <a:avLst/>
          </a:prstGeom>
          <a:noFill/>
          <a:ln/>
        </p:spPr>
        <p:txBody>
          <a:bodyPr wrap="square" lIns="0" tIns="0" rIns="0" bIns="0" rtlCol="0" anchor="ctr"/>
          <a:lstStyle/>
          <a:p>
            <a:pPr indent="0" marL="0">
              <a:lnSpc>
                <a:spcPts val="3200"/>
              </a:lnSpc>
              <a:buNone/>
            </a:pPr>
            <a:r>
              <a:rPr lang="en-US" sz="2500" b="1" dirty="0">
                <a:solidFill>
                  <a:srgbClr val="B5563C"/>
                </a:solidFill>
                <a:latin typeface="Georgia" pitchFamily="34" charset="0"/>
                <a:ea typeface="Georgia" pitchFamily="34" charset="-122"/>
                <a:cs typeface="Georgia" pitchFamily="34" charset="-120"/>
              </a:rPr>
              <a:t>six in a row produce no new value</a:t>
            </a:r>
            <a:endParaRPr lang="en-US" sz="2500" dirty="0"/>
          </a:p>
        </p:txBody>
      </p:sp>
      <p:sp>
        <p:nvSpPr>
          <p:cNvPr id="7" name="Text 5"/>
          <p:cNvSpPr txBox="1"/>
          <p:nvPr/>
        </p:nvSpPr>
        <p:spPr>
          <a:xfrm>
            <a:off x="960120" y="3200400"/>
            <a:ext cx="5669280" cy="320040"/>
          </a:xfrm>
          <a:prstGeom prst="rect">
            <a:avLst/>
          </a:prstGeom>
          <a:noFill/>
          <a:ln/>
        </p:spPr>
        <p:txBody>
          <a:bodyPr wrap="square" lIns="0" tIns="0" rIns="0" bIns="0" rtlCol="0" anchor="ctr"/>
          <a:lstStyle/>
          <a:p>
            <a:pPr indent="0" marL="0">
              <a:buNone/>
            </a:pPr>
            <a:r>
              <a:rPr lang="en-US" sz="1400" dirty="0">
                <a:solidFill>
                  <a:srgbClr val="6B7A75"/>
                </a:solidFill>
                <a:latin typeface="Calibri" pitchFamily="34" charset="0"/>
                <a:ea typeface="Calibri" pitchFamily="34" charset="-122"/>
                <a:cs typeface="Calibri" pitchFamily="34" charset="-120"/>
              </a:rPr>
              <a:t>on any of these five fields:</a:t>
            </a:r>
            <a:endParaRPr lang="en-US" sz="1400" dirty="0"/>
          </a:p>
        </p:txBody>
      </p:sp>
      <p:sp>
        <p:nvSpPr>
          <p:cNvPr id="8" name="Text 6"/>
          <p:cNvSpPr txBox="1"/>
          <p:nvPr/>
        </p:nvSpPr>
        <p:spPr>
          <a:xfrm>
            <a:off x="960120" y="3584448"/>
            <a:ext cx="5669280" cy="1920240"/>
          </a:xfrm>
          <a:prstGeom prst="rect">
            <a:avLst/>
          </a:prstGeom>
          <a:noFill/>
          <a:ln/>
        </p:spPr>
        <p:txBody>
          <a:bodyPr wrap="square" lIns="0" tIns="0" rIns="0" bIns="0" rtlCol="0" anchor="ctr"/>
          <a:lstStyle/>
          <a:p>
            <a:pPr marL="342900" indent="-342900">
              <a:lnSpc>
                <a:spcPts val="2200"/>
              </a:lnSpc>
              <a:spcAft>
                <a:spcPts val="300"/>
              </a:spcAft>
              <a:buSzPct val="100000"/>
              <a:buChar char="•"/>
            </a:pPr>
            <a:r>
              <a:rPr lang="en-US" sz="1400" dirty="0">
                <a:solidFill>
                  <a:srgbClr val="1B3330"/>
                </a:solidFill>
                <a:latin typeface="Calibri" pitchFamily="34" charset="0"/>
                <a:ea typeface="Calibri" pitchFamily="34" charset="-122"/>
                <a:cs typeface="Calibri" pitchFamily="34" charset="-120"/>
              </a:rPr>
              <a:t>who_participates</a:t>
            </a:r>
            <a:endParaRPr lang="en-US" sz="1400" dirty="0"/>
          </a:p>
          <a:p>
            <a:pPr marL="342900" indent="-342900">
              <a:lnSpc>
                <a:spcPts val="2200"/>
              </a:lnSpc>
              <a:spcAft>
                <a:spcPts val="300"/>
              </a:spcAft>
              <a:buSzPct val="100000"/>
              <a:buChar char="•"/>
            </a:pPr>
            <a:r>
              <a:rPr lang="en-US" sz="1400" dirty="0">
                <a:solidFill>
                  <a:srgbClr val="1B3330"/>
                </a:solidFill>
                <a:latin typeface="Calibri" pitchFamily="34" charset="0"/>
                <a:ea typeface="Calibri" pitchFamily="34" charset="-122"/>
                <a:cs typeface="Calibri" pitchFamily="34" charset="-120"/>
              </a:rPr>
              <a:t>who_benefits</a:t>
            </a:r>
            <a:endParaRPr lang="en-US" sz="1400" dirty="0"/>
          </a:p>
          <a:p>
            <a:pPr marL="342900" indent="-342900">
              <a:lnSpc>
                <a:spcPts val="2200"/>
              </a:lnSpc>
              <a:spcAft>
                <a:spcPts val="300"/>
              </a:spcAft>
              <a:buSzPct val="100000"/>
              <a:buChar char="•"/>
            </a:pPr>
            <a:r>
              <a:rPr lang="en-US" sz="1400" dirty="0">
                <a:solidFill>
                  <a:srgbClr val="1B3330"/>
                </a:solidFill>
                <a:latin typeface="Calibri" pitchFamily="34" charset="0"/>
                <a:ea typeface="Calibri" pitchFamily="34" charset="-122"/>
                <a:cs typeface="Calibri" pitchFamily="34" charset="-120"/>
              </a:rPr>
              <a:t>what_social_good_and_who_decides</a:t>
            </a:r>
            <a:endParaRPr lang="en-US" sz="1400" dirty="0"/>
          </a:p>
          <a:p>
            <a:pPr marL="342900" indent="-342900">
              <a:lnSpc>
                <a:spcPts val="2200"/>
              </a:lnSpc>
              <a:spcAft>
                <a:spcPts val="300"/>
              </a:spcAft>
              <a:buSzPct val="100000"/>
              <a:buChar char="•"/>
            </a:pPr>
            <a:r>
              <a:rPr lang="en-US" sz="1400" dirty="0">
                <a:solidFill>
                  <a:srgbClr val="1B3330"/>
                </a:solidFill>
                <a:latin typeface="Calibri" pitchFamily="34" charset="0"/>
                <a:ea typeface="Calibri" pitchFamily="34" charset="-122"/>
                <a:cs typeface="Calibri" pitchFamily="34" charset="-120"/>
              </a:rPr>
              <a:t>what_counts_as_technology</a:t>
            </a:r>
            <a:endParaRPr lang="en-US" sz="1400" dirty="0"/>
          </a:p>
          <a:p>
            <a:pPr marL="342900" indent="-342900">
              <a:lnSpc>
                <a:spcPts val="2200"/>
              </a:lnSpc>
              <a:spcAft>
                <a:spcPts val="300"/>
              </a:spcAft>
              <a:buSzPct val="100000"/>
              <a:buChar char="•"/>
            </a:pPr>
            <a:r>
              <a:rPr lang="en-US" sz="1400" dirty="0">
                <a:solidFill>
                  <a:srgbClr val="1B3330"/>
                </a:solidFill>
                <a:latin typeface="Calibri" pitchFamily="34" charset="0"/>
                <a:ea typeface="Calibri" pitchFamily="34" charset="-122"/>
                <a:cs typeface="Calibri" pitchFamily="34" charset="-120"/>
              </a:rPr>
              <a:t>ecosystem_role</a:t>
            </a:r>
            <a:endParaRPr lang="en-US" sz="1400" dirty="0"/>
          </a:p>
        </p:txBody>
      </p:sp>
      <p:sp>
        <p:nvSpPr>
          <p:cNvPr id="9" name="Shape 7"/>
          <p:cNvSpPr/>
          <p:nvPr/>
        </p:nvSpPr>
        <p:spPr>
          <a:xfrm>
            <a:off x="7406640" y="1783080"/>
            <a:ext cx="4144975" cy="4069080"/>
          </a:xfrm>
          <a:prstGeom prst="roundRect">
            <a:avLst>
              <a:gd name="adj" fmla="val 1573"/>
            </a:avLst>
          </a:prstGeom>
          <a:solidFill>
            <a:srgbClr val="1B3330"/>
          </a:solidFill>
          <a:ln w="12700">
            <a:solidFill>
              <a:srgbClr val="1B3330"/>
            </a:solidFill>
            <a:prstDash val="solid"/>
          </a:ln>
        </p:spPr>
      </p:sp>
      <p:sp>
        <p:nvSpPr>
          <p:cNvPr id="10" name="Text 8"/>
          <p:cNvSpPr txBox="1"/>
          <p:nvPr/>
        </p:nvSpPr>
        <p:spPr>
          <a:xfrm>
            <a:off x="7699248" y="1993392"/>
            <a:ext cx="3840480" cy="365760"/>
          </a:xfrm>
          <a:prstGeom prst="rect">
            <a:avLst/>
          </a:prstGeom>
          <a:noFill/>
          <a:ln/>
        </p:spPr>
        <p:txBody>
          <a:bodyPr wrap="square" lIns="0" tIns="0" rIns="0" bIns="0" rtlCol="0" anchor="ctr"/>
          <a:lstStyle/>
          <a:p>
            <a:pPr indent="0" marL="0">
              <a:buNone/>
            </a:pPr>
            <a:r>
              <a:rPr lang="en-US" sz="1700" b="1" dirty="0">
                <a:solidFill>
                  <a:srgbClr val="B5563C"/>
                </a:solidFill>
                <a:latin typeface="Georgia" pitchFamily="34" charset="0"/>
                <a:ea typeface="Georgia" pitchFamily="34" charset="-122"/>
                <a:cs typeface="Georgia" pitchFamily="34" charset="-120"/>
              </a:rPr>
              <a:t>Three details on the count</a:t>
            </a:r>
            <a:endParaRPr lang="en-US" sz="1700" dirty="0"/>
          </a:p>
        </p:txBody>
      </p:sp>
      <p:sp>
        <p:nvSpPr>
          <p:cNvPr id="11" name="Text 9"/>
          <p:cNvSpPr txBox="1"/>
          <p:nvPr/>
        </p:nvSpPr>
        <p:spPr>
          <a:xfrm>
            <a:off x="7699248" y="2487168"/>
            <a:ext cx="3611880" cy="310896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250" dirty="0">
                <a:solidFill>
                  <a:srgbClr val="D8D2C6"/>
                </a:solidFill>
                <a:latin typeface="Calibri" pitchFamily="34" charset="0"/>
                <a:ea typeface="Calibri" pitchFamily="34" charset="-122"/>
                <a:cs typeface="Calibri" pitchFamily="34" charset="-120"/>
              </a:rPr>
              <a:t>Only an adjudicated new value resets the counter. A new category one of you proposes that Jon adjudicates away doesn’t move it.</a:t>
            </a:r>
            <a:endParaRPr lang="en-US" sz="1250" dirty="0"/>
          </a:p>
          <a:p>
            <a:pPr marL="342900" indent="-342900">
              <a:lnSpc>
                <a:spcPts val="1900"/>
              </a:lnSpc>
              <a:spcAft>
                <a:spcPts val="1000"/>
              </a:spcAft>
              <a:buSzPct val="100000"/>
              <a:buChar char="•"/>
            </a:pPr>
            <a:r>
              <a:rPr lang="en-US" sz="1250" dirty="0">
                <a:solidFill>
                  <a:srgbClr val="D8D2C6"/>
                </a:solidFill>
                <a:latin typeface="Calibri" pitchFamily="34" charset="0"/>
                <a:ea typeface="Calibri" pitchFamily="34" charset="-122"/>
                <a:cs typeface="Calibri" pitchFamily="34" charset="-120"/>
              </a:rPr>
              <a:t>Organizations excluded at criteria 3, 4 or 5 don’t count toward the six — they were never coded on these fields.</a:t>
            </a:r>
            <a:endParaRPr lang="en-US" sz="1250" dirty="0"/>
          </a:p>
          <a:p>
            <a:pPr marL="342900" indent="-342900">
              <a:lnSpc>
                <a:spcPts val="1900"/>
              </a:lnSpc>
              <a:spcAft>
                <a:spcPts val="1000"/>
              </a:spcAft>
              <a:buSzPct val="100000"/>
              <a:buChar char="•"/>
            </a:pPr>
            <a:r>
              <a:rPr lang="en-US" sz="1250" dirty="0">
                <a:solidFill>
                  <a:srgbClr val="D8D2C6"/>
                </a:solidFill>
                <a:latin typeface="Calibri" pitchFamily="34" charset="0"/>
                <a:ea typeface="Calibri" pitchFamily="34" charset="-122"/>
                <a:cs typeface="Calibri" pitchFamily="34" charset="-120"/>
              </a:rPr>
              <a:t>The count is per block. Block A can finish while Block C keeps going.</a:t>
            </a:r>
            <a:endParaRPr lang="en-US" sz="1250" dirty="0"/>
          </a:p>
        </p:txBody>
      </p:sp>
      <p:sp>
        <p:nvSpPr>
          <p:cNvPr id="12" name="Text 10"/>
          <p:cNvSpPr txBox="1"/>
          <p:nvPr/>
        </p:nvSpPr>
        <p:spPr>
          <a:xfrm>
            <a:off x="640080" y="5989320"/>
            <a:ext cx="10911535" cy="502920"/>
          </a:xfrm>
          <a:prstGeom prst="rect">
            <a:avLst/>
          </a:prstGeom>
          <a:noFill/>
          <a:ln/>
        </p:spPr>
        <p:txBody>
          <a:bodyPr wrap="square" rtlCol="0" anchor="ctr"/>
          <a:lstStyle/>
          <a:p>
            <a:pPr indent="0" marL="0">
              <a:lnSpc>
                <a:spcPts val="1900"/>
              </a:lnSpc>
              <a:buNone/>
            </a:pPr>
            <a:r>
              <a:rPr lang="en-US" sz="1300" i="1" dirty="0">
                <a:solidFill>
                  <a:srgbClr val="5E8B7E"/>
                </a:solidFill>
                <a:latin typeface="Calibri" pitchFamily="34" charset="0"/>
                <a:ea typeface="Calibri" pitchFamily="34" charset="-122"/>
                <a:cs typeface="Calibri" pitchFamily="34" charset="-120"/>
              </a:rPr>
              <a:t>If a block runs out of organizations before six in a row come back empty, that’s a finding about how thin that tradition’s organizational layer is, and we report it as one. We don’t go add more frames to fill it out.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 Data Collection Methodology</dc:title>
  <dc:subject>PptxGenJS Presentation</dc:subject>
  <dc:creator>TPG project</dc:creator>
  <cp:lastModifiedBy>TPG project</cp:lastModifiedBy>
  <cp:revision>1</cp:revision>
  <dcterms:created xsi:type="dcterms:W3CDTF">2026-09-03T12:42:43Z</dcterms:created>
  <dcterms:modified xsi:type="dcterms:W3CDTF">2026-09-03T12:42:43Z</dcterms:modified>
</cp:coreProperties>
</file>